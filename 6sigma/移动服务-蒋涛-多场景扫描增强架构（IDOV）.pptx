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63" r:id="rId4"/>
  </p:sldMasterIdLst>
  <p:notesMasterIdLst>
    <p:notesMasterId r:id="rId8"/>
  </p:notesMasterIdLst>
  <p:handoutMasterIdLst>
    <p:handoutMasterId r:id="rId47"/>
  </p:handoutMasterIdLst>
  <p:sldIdLst>
    <p:sldId id="412" r:id="rId5"/>
    <p:sldId id="415" r:id="rId6"/>
    <p:sldId id="416" r:id="rId7"/>
    <p:sldId id="417" r:id="rId9"/>
    <p:sldId id="418" r:id="rId10"/>
    <p:sldId id="419" r:id="rId11"/>
    <p:sldId id="575" r:id="rId12"/>
    <p:sldId id="600" r:id="rId13"/>
    <p:sldId id="574" r:id="rId14"/>
    <p:sldId id="445" r:id="rId15"/>
    <p:sldId id="447" r:id="rId16"/>
    <p:sldId id="422" r:id="rId17"/>
    <p:sldId id="484" r:id="rId18"/>
    <p:sldId id="520" r:id="rId19"/>
    <p:sldId id="538" r:id="rId20"/>
    <p:sldId id="539" r:id="rId21"/>
    <p:sldId id="540" r:id="rId22"/>
    <p:sldId id="541" r:id="rId23"/>
    <p:sldId id="542" r:id="rId24"/>
    <p:sldId id="543" r:id="rId25"/>
    <p:sldId id="625" r:id="rId26"/>
    <p:sldId id="627" r:id="rId27"/>
    <p:sldId id="628" r:id="rId28"/>
    <p:sldId id="633" r:id="rId29"/>
    <p:sldId id="635" r:id="rId30"/>
    <p:sldId id="637" r:id="rId31"/>
    <p:sldId id="640" r:id="rId32"/>
    <p:sldId id="425" r:id="rId33"/>
    <p:sldId id="562" r:id="rId34"/>
    <p:sldId id="641" r:id="rId35"/>
    <p:sldId id="428" r:id="rId36"/>
    <p:sldId id="569" r:id="rId37"/>
    <p:sldId id="630" r:id="rId38"/>
    <p:sldId id="631" r:id="rId39"/>
    <p:sldId id="634" r:id="rId40"/>
    <p:sldId id="636" r:id="rId41"/>
    <p:sldId id="638" r:id="rId42"/>
    <p:sldId id="639" r:id="rId43"/>
    <p:sldId id="626" r:id="rId44"/>
    <p:sldId id="433" r:id="rId45"/>
    <p:sldId id="436" r:id="rId46"/>
  </p:sldIdLst>
  <p:sldSz cx="8618220" cy="6464300"/>
  <p:notesSz cx="6798945" cy="99294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3" userDrawn="1">
          <p15:clr>
            <a:srgbClr val="A4A3A4"/>
          </p15:clr>
        </p15:guide>
        <p15:guide id="2" pos="26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gman" initials="b" lastIdx="1" clrIdx="0"/>
  <p:cmAuthor id="2" name="taojiang" initials="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155"/>
    <a:srgbClr val="262626"/>
    <a:srgbClr val="6CCEE5"/>
    <a:srgbClr val="4E951D"/>
    <a:srgbClr val="1B4155"/>
    <a:srgbClr val="6A8ED5"/>
    <a:srgbClr val="0378B0"/>
    <a:srgbClr val="194155"/>
    <a:srgbClr val="3072C2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242" y="84"/>
      </p:cViewPr>
      <p:guideLst>
        <p:guide orient="horz" pos="1943"/>
        <p:guide pos="26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592"/>
    </p:cViewPr>
  </p:sorterViewPr>
  <p:notesViewPr>
    <p:cSldViewPr snapToGrid="0">
      <p:cViewPr varScale="1">
        <p:scale>
          <a:sx n="70" d="100"/>
          <a:sy n="70" d="100"/>
        </p:scale>
        <p:origin x="3058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9</c:v>
                </c:pt>
                <c:pt idx="2">
                  <c:v>11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011939680"/>
        <c:axId val="-1011937360"/>
      </c:barChart>
      <c:catAx>
        <c:axId val="-1011939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defRPr>
            </a:pPr>
          </a:p>
        </c:txPr>
        <c:crossAx val="-1011937360"/>
        <c:crosses val="autoZero"/>
        <c:auto val="1"/>
        <c:lblAlgn val="ctr"/>
        <c:lblOffset val="100"/>
        <c:noMultiLvlLbl val="0"/>
      </c:catAx>
      <c:valAx>
        <c:axId val="-1011937360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defRPr>
            </a:pPr>
          </a:p>
        </c:txPr>
        <c:crossAx val="-1011939680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b="1">
          <a:latin typeface="微软雅黑" panose="020B0703020204020201" pitchFamily="34" charset="-122"/>
          <a:ea typeface="微软雅黑" panose="020B0703020204020201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CA597-42A6-46D6-AD84-1DBF8312B8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5637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1C446-62AD-4D75-AB92-58C631DF85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31875" y="654050"/>
            <a:ext cx="4337050" cy="3252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39763" y="4125913"/>
            <a:ext cx="5121275" cy="391001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1F1D16-EA09-4D88-A260-3CCB8505DEE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84BA3E-59F3-47A6-9076-2F1CB5C9CB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31875" y="654050"/>
            <a:ext cx="4337050" cy="3252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39763" y="4125913"/>
            <a:ext cx="5121275" cy="391001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1F1D16-EA09-4D88-A260-3CCB8505DEE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84BA3E-59F3-47A6-9076-2F1CB5C9CB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581F89-A53A-4A48-BA13-1D928182274D}" type="slidenum">
              <a:rPr lang="en-US" altLang="zh-CN" smtClean="0">
                <a:latin typeface="Arial" panose="020B0604020202090204" pitchFamily="34" charset="0"/>
                <a:ea typeface="宋体" pitchFamily="2" charset="-122"/>
              </a:rPr>
            </a:fld>
            <a:endParaRPr lang="en-US" altLang="zh-CN" smtClean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6200" y="8653463"/>
            <a:ext cx="2971800" cy="504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23CC2AE4-FC17-465D-A226-E389F67E153F}" type="slidenum">
              <a:rPr lang="en-US" altLang="zh-CN" sz="1200"/>
            </a:fld>
            <a:endParaRPr lang="en-US" altLang="zh-CN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719138"/>
            <a:ext cx="4516438" cy="3387725"/>
          </a:xfrm>
          <a:solidFill>
            <a:srgbClr val="FFFFFF"/>
          </a:solidFill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22763"/>
            <a:ext cx="5029200" cy="41036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B21C446-62AD-4D75-AB92-58C631DF85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B21C446-62AD-4D75-AB92-58C631DF85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B21C446-62AD-4D75-AB92-58C631DF85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按小类排序</a:t>
            </a:r>
            <a:endParaRPr lang="zh-CN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B21C446-62AD-4D75-AB92-58C631DF85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80F05-E49C-4C57-9924-56A1C192FE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B21C446-62AD-4D75-AB92-58C631DF85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21C446-62AD-4D75-AB92-58C631DF85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483815-B9CD-4BA7-8E1F-0880A06F1614}" type="slidenum">
              <a:rPr lang="en-US" altLang="zh-CN" smtClean="0">
                <a:latin typeface="Arial" panose="020B0604020202090204" pitchFamily="34" charset="0"/>
                <a:ea typeface="宋体" pitchFamily="2" charset="-122"/>
              </a:rPr>
            </a:fld>
            <a:endParaRPr lang="en-US" altLang="zh-CN" smtClean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6200" y="8653463"/>
            <a:ext cx="2971800" cy="504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BDF4D0FE-390B-4651-96C1-4F095906E648}" type="slidenum">
              <a:rPr lang="en-US" altLang="zh-CN" sz="1200"/>
            </a:fld>
            <a:endParaRPr lang="en-US" altLang="zh-CN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719138"/>
            <a:ext cx="4516438" cy="3387725"/>
          </a:xfrm>
          <a:solidFill>
            <a:srgbClr val="FFFFFF"/>
          </a:solidFill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22763"/>
            <a:ext cx="5029200" cy="41036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5043805" y="5509260"/>
            <a:ext cx="3354705" cy="7664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3149955" y="171905"/>
            <a:ext cx="2309097" cy="2626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</a:rPr>
              <a:t>内幕信息，未经披露，严格保密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411896" y="480509"/>
            <a:ext cx="620664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49100" y="6034999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30</a:t>
            </a:r>
            <a:endParaRPr lang="en-US" altLang="zh-CN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pic>
        <p:nvPicPr>
          <p:cNvPr id="8" name="图片 7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4042" y="5928107"/>
            <a:ext cx="1057326" cy="48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3149955" y="171905"/>
            <a:ext cx="2309097" cy="2626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</a:rPr>
              <a:t>内幕信息，未经披露，严格保密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411896" y="480509"/>
            <a:ext cx="620664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49100" y="6034999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30</a:t>
            </a:r>
            <a:endParaRPr lang="en-US" altLang="zh-CN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6748074" y="137875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7187955" y="137875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7627837" y="137875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 userDrawn="1"/>
        </p:nvSpPr>
        <p:spPr bwMode="auto">
          <a:xfrm>
            <a:off x="8067718" y="137875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4" name="直接箭头连接符 13"/>
          <p:cNvCxnSpPr>
            <a:stCxn id="7" idx="3"/>
            <a:endCxn id="8" idx="1"/>
          </p:cNvCxnSpPr>
          <p:nvPr userDrawn="1"/>
        </p:nvCxnSpPr>
        <p:spPr>
          <a:xfrm>
            <a:off x="7062275" y="276359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  <a:endCxn id="9" idx="1"/>
          </p:cNvCxnSpPr>
          <p:nvPr userDrawn="1"/>
        </p:nvCxnSpPr>
        <p:spPr>
          <a:xfrm>
            <a:off x="7502156" y="276359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  <a:endCxn id="13" idx="1"/>
          </p:cNvCxnSpPr>
          <p:nvPr userDrawn="1"/>
        </p:nvCxnSpPr>
        <p:spPr>
          <a:xfrm>
            <a:off x="7942038" y="276359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4042" y="5928107"/>
            <a:ext cx="1057326" cy="48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3149955" y="171905"/>
            <a:ext cx="2309097" cy="2626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</a:rPr>
              <a:t>内幕信息，未经披露，严格保密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411896" y="480509"/>
            <a:ext cx="620664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49100" y="6034999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6763705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" name="Text Box 9"/>
          <p:cNvSpPr txBox="1">
            <a:spLocks noChangeArrowheads="1"/>
          </p:cNvSpPr>
          <p:nvPr userDrawn="1"/>
        </p:nvSpPr>
        <p:spPr bwMode="auto">
          <a:xfrm>
            <a:off x="7203586" y="157551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 userDrawn="1"/>
        </p:nvSpPr>
        <p:spPr bwMode="auto">
          <a:xfrm>
            <a:off x="7643468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 userDrawn="1"/>
        </p:nvSpPr>
        <p:spPr bwMode="auto">
          <a:xfrm>
            <a:off x="8083349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1" name="直接箭头连接符 20"/>
          <p:cNvCxnSpPr>
            <a:stCxn id="17" idx="3"/>
            <a:endCxn id="18" idx="1"/>
          </p:cNvCxnSpPr>
          <p:nvPr userDrawn="1"/>
        </p:nvCxnSpPr>
        <p:spPr>
          <a:xfrm>
            <a:off x="7077906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8" idx="3"/>
            <a:endCxn id="19" idx="1"/>
          </p:cNvCxnSpPr>
          <p:nvPr userDrawn="1"/>
        </p:nvCxnSpPr>
        <p:spPr>
          <a:xfrm>
            <a:off x="7517787" y="296035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3"/>
            <a:endCxn id="20" idx="1"/>
          </p:cNvCxnSpPr>
          <p:nvPr userDrawn="1"/>
        </p:nvCxnSpPr>
        <p:spPr>
          <a:xfrm>
            <a:off x="7957669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4042" y="5928107"/>
            <a:ext cx="1057326" cy="48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3149955" y="171905"/>
            <a:ext cx="2309097" cy="2626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</a:rPr>
              <a:t>内幕信息，未经披露，严格保密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411896" y="480509"/>
            <a:ext cx="620664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49100" y="6034999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 userDrawn="1"/>
        </p:nvSpPr>
        <p:spPr bwMode="auto">
          <a:xfrm>
            <a:off x="6818416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 userDrawn="1"/>
        </p:nvSpPr>
        <p:spPr bwMode="auto">
          <a:xfrm>
            <a:off x="7258297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 userDrawn="1"/>
        </p:nvSpPr>
        <p:spPr bwMode="auto">
          <a:xfrm>
            <a:off x="7698179" y="157551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 userDrawn="1"/>
        </p:nvSpPr>
        <p:spPr bwMode="auto">
          <a:xfrm>
            <a:off x="8138060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5" name="直接箭头连接符 24"/>
          <p:cNvCxnSpPr>
            <a:stCxn id="14" idx="3"/>
            <a:endCxn id="15" idx="1"/>
          </p:cNvCxnSpPr>
          <p:nvPr userDrawn="1"/>
        </p:nvCxnSpPr>
        <p:spPr>
          <a:xfrm>
            <a:off x="7132617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5" idx="3"/>
            <a:endCxn id="16" idx="1"/>
          </p:cNvCxnSpPr>
          <p:nvPr userDrawn="1"/>
        </p:nvCxnSpPr>
        <p:spPr>
          <a:xfrm>
            <a:off x="7572498" y="296035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6" idx="3"/>
            <a:endCxn id="24" idx="1"/>
          </p:cNvCxnSpPr>
          <p:nvPr userDrawn="1"/>
        </p:nvCxnSpPr>
        <p:spPr>
          <a:xfrm>
            <a:off x="8012380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4042" y="5928107"/>
            <a:ext cx="1057326" cy="48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3149955" y="171905"/>
            <a:ext cx="2309097" cy="2626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</a:rPr>
              <a:t>内幕信息，未经披露，严格保密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411896" y="480509"/>
            <a:ext cx="620664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49100" y="6034999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6787151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" name="Text Box 9"/>
          <p:cNvSpPr txBox="1">
            <a:spLocks noChangeArrowheads="1"/>
          </p:cNvSpPr>
          <p:nvPr userDrawn="1"/>
        </p:nvSpPr>
        <p:spPr bwMode="auto">
          <a:xfrm>
            <a:off x="7227032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 userDrawn="1"/>
        </p:nvSpPr>
        <p:spPr bwMode="auto">
          <a:xfrm>
            <a:off x="7666914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 userDrawn="1"/>
        </p:nvSpPr>
        <p:spPr bwMode="auto">
          <a:xfrm>
            <a:off x="8106795" y="157551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1" name="直接箭头连接符 20"/>
          <p:cNvCxnSpPr>
            <a:stCxn id="17" idx="3"/>
            <a:endCxn id="18" idx="1"/>
          </p:cNvCxnSpPr>
          <p:nvPr userDrawn="1"/>
        </p:nvCxnSpPr>
        <p:spPr>
          <a:xfrm>
            <a:off x="7101352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8" idx="3"/>
            <a:endCxn id="19" idx="1"/>
          </p:cNvCxnSpPr>
          <p:nvPr userDrawn="1"/>
        </p:nvCxnSpPr>
        <p:spPr>
          <a:xfrm>
            <a:off x="7541233" y="296035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3"/>
            <a:endCxn id="20" idx="1"/>
          </p:cNvCxnSpPr>
          <p:nvPr userDrawn="1"/>
        </p:nvCxnSpPr>
        <p:spPr>
          <a:xfrm>
            <a:off x="7981115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4042" y="5928107"/>
            <a:ext cx="1057326" cy="48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3149955" y="171905"/>
            <a:ext cx="2309097" cy="2626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</a:rPr>
              <a:t>内幕信息，未经披露，严格保密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-22860" y="6287770"/>
            <a:ext cx="6258008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8303488" y="6294396"/>
            <a:ext cx="31505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1"/>
          <p:cNvSpPr txBox="1"/>
          <p:nvPr userDrawn="1"/>
        </p:nvSpPr>
        <p:spPr>
          <a:xfrm>
            <a:off x="49100" y="6034999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pic>
        <p:nvPicPr>
          <p:cNvPr id="7" name="图片 6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6139748" y="5907191"/>
            <a:ext cx="2284095" cy="521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5043805" y="5509260"/>
            <a:ext cx="3354705" cy="766445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6732998" y="188595"/>
            <a:ext cx="1665512" cy="392579"/>
            <a:chOff x="9421591" y="2541816"/>
            <a:chExt cx="1665512" cy="442814"/>
          </a:xfrm>
        </p:grpSpPr>
        <p:sp>
          <p:nvSpPr>
            <p:cNvPr id="4" name="矩形 3"/>
            <p:cNvSpPr/>
            <p:nvPr userDrawn="1"/>
          </p:nvSpPr>
          <p:spPr>
            <a:xfrm>
              <a:off x="9429753" y="2541816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内部受控</a:t>
              </a:r>
              <a:endParaRPr lang="en-US" altLang="zh-CN" sz="1200" dirty="0">
                <a:solidFill>
                  <a:srgbClr val="FF0000"/>
                </a:solidFill>
                <a:effectLst/>
                <a:latin typeface="宋体" pitchFamily="2" charset="-122"/>
                <a:ea typeface="黑体" panose="02010609060101010101" pitchFamily="2" charset="-122"/>
                <a:cs typeface="Arial" panose="020B0604020202090204" pitchFamily="34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kern="100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cs typeface="Arial" panose="020B0604020202090204" pitchFamily="34" charset="0"/>
                </a:rPr>
                <a:t>Restricted</a:t>
              </a:r>
              <a:endParaRPr lang="zh-CN" altLang="zh-CN" sz="12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6" name="文本框 12"/>
            <p:cNvSpPr txBox="1"/>
            <p:nvPr userDrawn="1"/>
          </p:nvSpPr>
          <p:spPr>
            <a:xfrm>
              <a:off x="9421591" y="2585755"/>
              <a:ext cx="361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  <p:sp>
          <p:nvSpPr>
            <p:cNvPr id="7" name="文本框 13"/>
            <p:cNvSpPr txBox="1"/>
            <p:nvPr userDrawn="1"/>
          </p:nvSpPr>
          <p:spPr>
            <a:xfrm>
              <a:off x="10676169" y="2574478"/>
              <a:ext cx="332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261" y="480509"/>
            <a:ext cx="620664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5" y="6199464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476513" y="36174"/>
            <a:ext cx="1665512" cy="392579"/>
            <a:chOff x="9421591" y="2541816"/>
            <a:chExt cx="1665512" cy="442814"/>
          </a:xfrm>
        </p:grpSpPr>
        <p:sp>
          <p:nvSpPr>
            <p:cNvPr id="5" name="矩形 4"/>
            <p:cNvSpPr/>
            <p:nvPr userDrawn="1"/>
          </p:nvSpPr>
          <p:spPr>
            <a:xfrm>
              <a:off x="9429753" y="2541816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内部受控</a:t>
              </a:r>
              <a:endParaRPr lang="en-US" altLang="zh-CN" sz="1200" dirty="0">
                <a:solidFill>
                  <a:srgbClr val="FF0000"/>
                </a:solidFill>
                <a:effectLst/>
                <a:latin typeface="宋体" pitchFamily="2" charset="-122"/>
                <a:ea typeface="黑体" panose="02010609060101010101" pitchFamily="2" charset="-122"/>
                <a:cs typeface="Arial" panose="020B0604020202090204" pitchFamily="34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kern="100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cs typeface="Arial" panose="020B0604020202090204" pitchFamily="34" charset="0"/>
                </a:rPr>
                <a:t>Restricted</a:t>
              </a:r>
              <a:endParaRPr lang="zh-CN" altLang="zh-CN" sz="12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12"/>
            <p:cNvSpPr txBox="1"/>
            <p:nvPr userDrawn="1"/>
          </p:nvSpPr>
          <p:spPr>
            <a:xfrm>
              <a:off x="9421591" y="2585755"/>
              <a:ext cx="361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  <p:sp>
          <p:nvSpPr>
            <p:cNvPr id="8" name="文本框 13"/>
            <p:cNvSpPr txBox="1"/>
            <p:nvPr userDrawn="1"/>
          </p:nvSpPr>
          <p:spPr>
            <a:xfrm>
              <a:off x="10676169" y="2574478"/>
              <a:ext cx="332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</p:grpSp>
      <p:sp>
        <p:nvSpPr>
          <p:cNvPr id="18" name="Text Box 8"/>
          <p:cNvSpPr txBox="1">
            <a:spLocks noChangeArrowheads="1"/>
          </p:cNvSpPr>
          <p:nvPr userDrawn="1"/>
        </p:nvSpPr>
        <p:spPr bwMode="auto">
          <a:xfrm>
            <a:off x="6763705" y="157551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 userDrawn="1"/>
        </p:nvSpPr>
        <p:spPr bwMode="auto">
          <a:xfrm>
            <a:off x="7203586" y="157551"/>
            <a:ext cx="314201" cy="2769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 userDrawn="1"/>
        </p:nvSpPr>
        <p:spPr bwMode="auto">
          <a:xfrm>
            <a:off x="7643468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 userDrawn="1"/>
        </p:nvSpPr>
        <p:spPr bwMode="auto">
          <a:xfrm>
            <a:off x="8083349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2" name="直接箭头连接符 21"/>
          <p:cNvCxnSpPr>
            <a:stCxn id="18" idx="3"/>
            <a:endCxn id="19" idx="1"/>
          </p:cNvCxnSpPr>
          <p:nvPr userDrawn="1"/>
        </p:nvCxnSpPr>
        <p:spPr>
          <a:xfrm>
            <a:off x="7077906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3"/>
            <a:endCxn id="20" idx="1"/>
          </p:cNvCxnSpPr>
          <p:nvPr userDrawn="1"/>
        </p:nvCxnSpPr>
        <p:spPr>
          <a:xfrm>
            <a:off x="7517787" y="296035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0" idx="3"/>
            <a:endCxn id="21" idx="1"/>
          </p:cNvCxnSpPr>
          <p:nvPr userDrawn="1"/>
        </p:nvCxnSpPr>
        <p:spPr>
          <a:xfrm>
            <a:off x="7957669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261" y="480509"/>
            <a:ext cx="620664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5" y="6199464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3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476513" y="36174"/>
            <a:ext cx="1665512" cy="392579"/>
            <a:chOff x="9421591" y="2541816"/>
            <a:chExt cx="1665512" cy="442814"/>
          </a:xfrm>
        </p:grpSpPr>
        <p:sp>
          <p:nvSpPr>
            <p:cNvPr id="5" name="矩形 4"/>
            <p:cNvSpPr/>
            <p:nvPr userDrawn="1"/>
          </p:nvSpPr>
          <p:spPr>
            <a:xfrm>
              <a:off x="9429753" y="2541816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内部受控</a:t>
              </a:r>
              <a:endParaRPr lang="en-US" altLang="zh-CN" sz="1200" dirty="0">
                <a:solidFill>
                  <a:srgbClr val="FF0000"/>
                </a:solidFill>
                <a:effectLst/>
                <a:latin typeface="宋体" pitchFamily="2" charset="-122"/>
                <a:ea typeface="黑体" panose="02010609060101010101" pitchFamily="2" charset="-122"/>
                <a:cs typeface="Arial" panose="020B0604020202090204" pitchFamily="34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kern="100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cs typeface="Arial" panose="020B0604020202090204" pitchFamily="34" charset="0"/>
                </a:rPr>
                <a:t>Restricted</a:t>
              </a:r>
              <a:endParaRPr lang="zh-CN" altLang="zh-CN" sz="12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12"/>
            <p:cNvSpPr txBox="1"/>
            <p:nvPr userDrawn="1"/>
          </p:nvSpPr>
          <p:spPr>
            <a:xfrm>
              <a:off x="9421591" y="2585755"/>
              <a:ext cx="361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  <p:sp>
          <p:nvSpPr>
            <p:cNvPr id="8" name="文本框 13"/>
            <p:cNvSpPr txBox="1"/>
            <p:nvPr userDrawn="1"/>
          </p:nvSpPr>
          <p:spPr>
            <a:xfrm>
              <a:off x="10676169" y="2574478"/>
              <a:ext cx="332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</p:grpSp>
      <p:sp>
        <p:nvSpPr>
          <p:cNvPr id="18" name="Text Box 8"/>
          <p:cNvSpPr txBox="1">
            <a:spLocks noChangeArrowheads="1"/>
          </p:cNvSpPr>
          <p:nvPr userDrawn="1"/>
        </p:nvSpPr>
        <p:spPr bwMode="auto">
          <a:xfrm>
            <a:off x="6763705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 userDrawn="1"/>
        </p:nvSpPr>
        <p:spPr bwMode="auto">
          <a:xfrm>
            <a:off x="7203586" y="157551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 userDrawn="1"/>
        </p:nvSpPr>
        <p:spPr bwMode="auto">
          <a:xfrm>
            <a:off x="7643468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 userDrawn="1"/>
        </p:nvSpPr>
        <p:spPr bwMode="auto">
          <a:xfrm>
            <a:off x="8083349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2" name="直接箭头连接符 21"/>
          <p:cNvCxnSpPr>
            <a:stCxn id="18" idx="3"/>
            <a:endCxn id="19" idx="1"/>
          </p:cNvCxnSpPr>
          <p:nvPr userDrawn="1"/>
        </p:nvCxnSpPr>
        <p:spPr>
          <a:xfrm>
            <a:off x="7077906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3"/>
            <a:endCxn id="20" idx="1"/>
          </p:cNvCxnSpPr>
          <p:nvPr userDrawn="1"/>
        </p:nvCxnSpPr>
        <p:spPr>
          <a:xfrm>
            <a:off x="7517787" y="296035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0" idx="3"/>
            <a:endCxn id="21" idx="1"/>
          </p:cNvCxnSpPr>
          <p:nvPr userDrawn="1"/>
        </p:nvCxnSpPr>
        <p:spPr>
          <a:xfrm>
            <a:off x="7957669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261" y="480509"/>
            <a:ext cx="620664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5" y="6199464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3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476513" y="36174"/>
            <a:ext cx="1665512" cy="392579"/>
            <a:chOff x="9421591" y="2541816"/>
            <a:chExt cx="1665512" cy="442814"/>
          </a:xfrm>
        </p:grpSpPr>
        <p:sp>
          <p:nvSpPr>
            <p:cNvPr id="5" name="矩形 4"/>
            <p:cNvSpPr/>
            <p:nvPr userDrawn="1"/>
          </p:nvSpPr>
          <p:spPr>
            <a:xfrm>
              <a:off x="9429753" y="2541816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内部受控</a:t>
              </a:r>
              <a:endParaRPr lang="en-US" altLang="zh-CN" sz="1200" dirty="0">
                <a:solidFill>
                  <a:srgbClr val="FF0000"/>
                </a:solidFill>
                <a:effectLst/>
                <a:latin typeface="宋体" pitchFamily="2" charset="-122"/>
                <a:ea typeface="黑体" panose="02010609060101010101" pitchFamily="2" charset="-122"/>
                <a:cs typeface="Arial" panose="020B0604020202090204" pitchFamily="34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kern="100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cs typeface="Arial" panose="020B0604020202090204" pitchFamily="34" charset="0"/>
                </a:rPr>
                <a:t>Restricted</a:t>
              </a:r>
              <a:endParaRPr lang="zh-CN" altLang="zh-CN" sz="12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12"/>
            <p:cNvSpPr txBox="1"/>
            <p:nvPr userDrawn="1"/>
          </p:nvSpPr>
          <p:spPr>
            <a:xfrm>
              <a:off x="9421591" y="2585755"/>
              <a:ext cx="361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  <p:sp>
          <p:nvSpPr>
            <p:cNvPr id="8" name="文本框 13"/>
            <p:cNvSpPr txBox="1"/>
            <p:nvPr userDrawn="1"/>
          </p:nvSpPr>
          <p:spPr>
            <a:xfrm>
              <a:off x="10676169" y="2574478"/>
              <a:ext cx="332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</p:grpSp>
      <p:sp>
        <p:nvSpPr>
          <p:cNvPr id="18" name="Text Box 8"/>
          <p:cNvSpPr txBox="1">
            <a:spLocks noChangeArrowheads="1"/>
          </p:cNvSpPr>
          <p:nvPr userDrawn="1"/>
        </p:nvSpPr>
        <p:spPr bwMode="auto">
          <a:xfrm>
            <a:off x="6763705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 userDrawn="1"/>
        </p:nvSpPr>
        <p:spPr bwMode="auto">
          <a:xfrm>
            <a:off x="7203586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 userDrawn="1"/>
        </p:nvSpPr>
        <p:spPr bwMode="auto">
          <a:xfrm>
            <a:off x="7643468" y="157551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 userDrawn="1"/>
        </p:nvSpPr>
        <p:spPr bwMode="auto">
          <a:xfrm>
            <a:off x="8083349" y="157551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2" name="直接箭头连接符 21"/>
          <p:cNvCxnSpPr>
            <a:stCxn id="18" idx="3"/>
            <a:endCxn id="19" idx="1"/>
          </p:cNvCxnSpPr>
          <p:nvPr userDrawn="1"/>
        </p:nvCxnSpPr>
        <p:spPr>
          <a:xfrm>
            <a:off x="7077906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3"/>
            <a:endCxn id="20" idx="1"/>
          </p:cNvCxnSpPr>
          <p:nvPr userDrawn="1"/>
        </p:nvCxnSpPr>
        <p:spPr>
          <a:xfrm>
            <a:off x="7517787" y="296035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0" idx="3"/>
            <a:endCxn id="21" idx="1"/>
          </p:cNvCxnSpPr>
          <p:nvPr userDrawn="1"/>
        </p:nvCxnSpPr>
        <p:spPr>
          <a:xfrm>
            <a:off x="7957669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55" y="88900"/>
            <a:ext cx="2284095" cy="521970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261" y="480509"/>
            <a:ext cx="620664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5" y="6199464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3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476513" y="36174"/>
            <a:ext cx="1665512" cy="392579"/>
            <a:chOff x="9421591" y="2541816"/>
            <a:chExt cx="1665512" cy="442814"/>
          </a:xfrm>
        </p:grpSpPr>
        <p:sp>
          <p:nvSpPr>
            <p:cNvPr id="5" name="矩形 4"/>
            <p:cNvSpPr/>
            <p:nvPr userDrawn="1"/>
          </p:nvSpPr>
          <p:spPr>
            <a:xfrm>
              <a:off x="9429753" y="2541816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内部受控</a:t>
              </a:r>
              <a:endParaRPr lang="en-US" altLang="zh-CN" sz="1200" dirty="0">
                <a:solidFill>
                  <a:srgbClr val="FF0000"/>
                </a:solidFill>
                <a:effectLst/>
                <a:latin typeface="宋体" pitchFamily="2" charset="-122"/>
                <a:ea typeface="黑体" panose="02010609060101010101" pitchFamily="2" charset="-122"/>
                <a:cs typeface="Arial" panose="020B0604020202090204" pitchFamily="34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kern="100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cs typeface="Arial" panose="020B0604020202090204" pitchFamily="34" charset="0"/>
                </a:rPr>
                <a:t>Restricted</a:t>
              </a:r>
              <a:endParaRPr lang="zh-CN" altLang="zh-CN" sz="12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12"/>
            <p:cNvSpPr txBox="1"/>
            <p:nvPr userDrawn="1"/>
          </p:nvSpPr>
          <p:spPr>
            <a:xfrm>
              <a:off x="9421591" y="2585755"/>
              <a:ext cx="361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  <p:sp>
          <p:nvSpPr>
            <p:cNvPr id="8" name="文本框 13"/>
            <p:cNvSpPr txBox="1"/>
            <p:nvPr userDrawn="1"/>
          </p:nvSpPr>
          <p:spPr>
            <a:xfrm>
              <a:off x="10676169" y="2574478"/>
              <a:ext cx="332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dirty="0"/>
            </a:p>
          </p:txBody>
        </p:sp>
      </p:grpSp>
      <p:sp>
        <p:nvSpPr>
          <p:cNvPr id="18" name="Text Box 8"/>
          <p:cNvSpPr txBox="1">
            <a:spLocks noChangeArrowheads="1"/>
          </p:cNvSpPr>
          <p:nvPr userDrawn="1"/>
        </p:nvSpPr>
        <p:spPr bwMode="auto">
          <a:xfrm>
            <a:off x="6763705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 userDrawn="1"/>
        </p:nvSpPr>
        <p:spPr bwMode="auto">
          <a:xfrm>
            <a:off x="7203586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 userDrawn="1"/>
        </p:nvSpPr>
        <p:spPr bwMode="auto">
          <a:xfrm>
            <a:off x="7643468" y="157551"/>
            <a:ext cx="314201" cy="27696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 userDrawn="1"/>
        </p:nvSpPr>
        <p:spPr bwMode="auto">
          <a:xfrm>
            <a:off x="8083349" y="157551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2" name="直接箭头连接符 21"/>
          <p:cNvCxnSpPr>
            <a:stCxn id="18" idx="3"/>
            <a:endCxn id="19" idx="1"/>
          </p:cNvCxnSpPr>
          <p:nvPr userDrawn="1"/>
        </p:nvCxnSpPr>
        <p:spPr>
          <a:xfrm>
            <a:off x="7077906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9" idx="3"/>
            <a:endCxn id="20" idx="1"/>
          </p:cNvCxnSpPr>
          <p:nvPr userDrawn="1"/>
        </p:nvCxnSpPr>
        <p:spPr>
          <a:xfrm>
            <a:off x="7517787" y="296035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0" idx="3"/>
            <a:endCxn id="21" idx="1"/>
          </p:cNvCxnSpPr>
          <p:nvPr userDrawn="1"/>
        </p:nvCxnSpPr>
        <p:spPr>
          <a:xfrm>
            <a:off x="7957669" y="296035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徽标, 图标&#10;&#10;中度可信度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64" y="2871690"/>
            <a:ext cx="4344492" cy="720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5043912" y="5509015"/>
            <a:ext cx="3354775" cy="766411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6686152" y="274854"/>
            <a:ext cx="1664185" cy="442794"/>
            <a:chOff x="9344030" y="1319894"/>
            <a:chExt cx="1664150" cy="442814"/>
          </a:xfrm>
        </p:grpSpPr>
        <p:sp>
          <p:nvSpPr>
            <p:cNvPr id="4" name="矩形 3"/>
            <p:cNvSpPr/>
            <p:nvPr userDrawn="1"/>
          </p:nvSpPr>
          <p:spPr>
            <a:xfrm>
              <a:off x="9350830" y="1319894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普通商密</a:t>
              </a:r>
              <a:endParaRPr lang="zh-CN" altLang="zh-CN" sz="9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itchFamily="2" charset="-122"/>
                  <a:cs typeface="Arial" panose="020B0604020202090204" pitchFamily="34" charset="0"/>
                </a:rPr>
                <a:t>Confidential</a:t>
              </a:r>
              <a:endParaRPr lang="zh-CN" altLang="zh-CN" sz="11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8" name="文本框 7"/>
            <p:cNvSpPr txBox="1"/>
            <p:nvPr userDrawn="1"/>
          </p:nvSpPr>
          <p:spPr>
            <a:xfrm>
              <a:off x="9344030" y="1366634"/>
              <a:ext cx="449036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0646229" y="1366634"/>
              <a:ext cx="361951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</p:grpSp>
      <p:pic>
        <p:nvPicPr>
          <p:cNvPr id="6" name="图片 5" descr="16字关键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65611" y="1008970"/>
            <a:ext cx="5734170" cy="5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61" y="88897"/>
            <a:ext cx="2284143" cy="52194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311" y="480488"/>
            <a:ext cx="620677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488"/>
            <a:ext cx="315057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6" y="6199189"/>
            <a:ext cx="93946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pic>
        <p:nvPicPr>
          <p:cNvPr id="8" name="图片 7" descr="16字关键词"/>
          <p:cNvPicPr>
            <a:picLocks noChangeAspect="1"/>
          </p:cNvPicPr>
          <p:nvPr userDrawn="1"/>
        </p:nvPicPr>
        <p:blipFill>
          <a:blip r:embed="rId3"/>
          <a:srcRect r="9119" b="30115"/>
          <a:stretch>
            <a:fillRect/>
          </a:stretch>
        </p:blipFill>
        <p:spPr>
          <a:xfrm>
            <a:off x="4963264" y="155568"/>
            <a:ext cx="3510354" cy="266688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3568392" y="13203"/>
            <a:ext cx="1664185" cy="442794"/>
            <a:chOff x="9344030" y="1319894"/>
            <a:chExt cx="1664150" cy="442814"/>
          </a:xfrm>
        </p:grpSpPr>
        <p:sp>
          <p:nvSpPr>
            <p:cNvPr id="4" name="矩形 3"/>
            <p:cNvSpPr/>
            <p:nvPr userDrawn="1"/>
          </p:nvSpPr>
          <p:spPr>
            <a:xfrm>
              <a:off x="9350830" y="1319894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普通商密</a:t>
              </a:r>
              <a:endParaRPr lang="zh-CN" altLang="zh-CN" sz="9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itchFamily="2" charset="-122"/>
                  <a:cs typeface="Arial" panose="020B0604020202090204" pitchFamily="34" charset="0"/>
                </a:rPr>
                <a:t>Confidential</a:t>
              </a:r>
              <a:endParaRPr lang="zh-CN" altLang="zh-CN" sz="11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6"/>
            <p:cNvSpPr txBox="1"/>
            <p:nvPr userDrawn="1"/>
          </p:nvSpPr>
          <p:spPr>
            <a:xfrm>
              <a:off x="9344030" y="1366634"/>
              <a:ext cx="449036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0646229" y="1366634"/>
              <a:ext cx="361951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839773" y="528902"/>
            <a:ext cx="1633845" cy="178330"/>
            <a:chOff x="6839773" y="528901"/>
            <a:chExt cx="1633845" cy="276967"/>
          </a:xfrm>
        </p:grpSpPr>
        <p:sp>
          <p:nvSpPr>
            <p:cNvPr id="11" name="Text Box 8"/>
            <p:cNvSpPr txBox="1">
              <a:spLocks noChangeArrowheads="1"/>
            </p:cNvSpPr>
            <p:nvPr userDrawn="1"/>
          </p:nvSpPr>
          <p:spPr bwMode="auto">
            <a:xfrm>
              <a:off x="6839773" y="528901"/>
              <a:ext cx="314201" cy="276967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I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 userDrawn="1"/>
          </p:nvSpPr>
          <p:spPr bwMode="auto">
            <a:xfrm>
              <a:off x="7279654" y="528901"/>
              <a:ext cx="314201" cy="276967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D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 userDrawn="1"/>
          </p:nvSpPr>
          <p:spPr bwMode="auto">
            <a:xfrm>
              <a:off x="7719536" y="528901"/>
              <a:ext cx="314201" cy="27696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O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 userDrawn="1"/>
          </p:nvSpPr>
          <p:spPr bwMode="auto">
            <a:xfrm>
              <a:off x="8159417" y="528901"/>
              <a:ext cx="314201" cy="27696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V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箭头连接符 15"/>
            <p:cNvCxnSpPr>
              <a:stCxn id="11" idx="3"/>
              <a:endCxn id="13" idx="1"/>
            </p:cNvCxnSpPr>
            <p:nvPr userDrawn="1"/>
          </p:nvCxnSpPr>
          <p:spPr>
            <a:xfrm>
              <a:off x="7153974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" name="直接箭头连接符 16"/>
            <p:cNvCxnSpPr>
              <a:stCxn id="13" idx="3"/>
              <a:endCxn id="14" idx="1"/>
            </p:cNvCxnSpPr>
            <p:nvPr userDrawn="1"/>
          </p:nvCxnSpPr>
          <p:spPr>
            <a:xfrm>
              <a:off x="7593855" y="667385"/>
              <a:ext cx="125681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" name="直接箭头连接符 17"/>
            <p:cNvCxnSpPr>
              <a:stCxn id="14" idx="3"/>
              <a:endCxn id="15" idx="1"/>
            </p:cNvCxnSpPr>
            <p:nvPr userDrawn="1"/>
          </p:nvCxnSpPr>
          <p:spPr>
            <a:xfrm>
              <a:off x="8033737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46" y="5872591"/>
            <a:ext cx="118901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61" y="88897"/>
            <a:ext cx="2284143" cy="52194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311" y="480488"/>
            <a:ext cx="620677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488"/>
            <a:ext cx="315057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6" y="6199189"/>
            <a:ext cx="93946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pic>
        <p:nvPicPr>
          <p:cNvPr id="8" name="图片 7" descr="16字关键词"/>
          <p:cNvPicPr>
            <a:picLocks noChangeAspect="1"/>
          </p:cNvPicPr>
          <p:nvPr userDrawn="1"/>
        </p:nvPicPr>
        <p:blipFill>
          <a:blip r:embed="rId3"/>
          <a:srcRect r="9119" b="30115"/>
          <a:stretch>
            <a:fillRect/>
          </a:stretch>
        </p:blipFill>
        <p:spPr>
          <a:xfrm>
            <a:off x="4963264" y="155568"/>
            <a:ext cx="3510354" cy="266688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3568392" y="13203"/>
            <a:ext cx="1664185" cy="442794"/>
            <a:chOff x="9344030" y="1319894"/>
            <a:chExt cx="1664150" cy="442814"/>
          </a:xfrm>
        </p:grpSpPr>
        <p:sp>
          <p:nvSpPr>
            <p:cNvPr id="4" name="矩形 3"/>
            <p:cNvSpPr/>
            <p:nvPr userDrawn="1"/>
          </p:nvSpPr>
          <p:spPr>
            <a:xfrm>
              <a:off x="9350830" y="1319894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普通商密</a:t>
              </a:r>
              <a:endParaRPr lang="zh-CN" altLang="zh-CN" sz="9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itchFamily="2" charset="-122"/>
                  <a:cs typeface="Arial" panose="020B0604020202090204" pitchFamily="34" charset="0"/>
                </a:rPr>
                <a:t>Confidential</a:t>
              </a:r>
              <a:endParaRPr lang="zh-CN" altLang="zh-CN" sz="11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6"/>
            <p:cNvSpPr txBox="1"/>
            <p:nvPr userDrawn="1"/>
          </p:nvSpPr>
          <p:spPr>
            <a:xfrm>
              <a:off x="9344030" y="1366634"/>
              <a:ext cx="449036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0646229" y="1366634"/>
              <a:ext cx="361951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839773" y="528902"/>
            <a:ext cx="1633845" cy="178330"/>
            <a:chOff x="6839773" y="528901"/>
            <a:chExt cx="1633845" cy="276967"/>
          </a:xfrm>
        </p:grpSpPr>
        <p:sp>
          <p:nvSpPr>
            <p:cNvPr id="11" name="Text Box 8"/>
            <p:cNvSpPr txBox="1">
              <a:spLocks noChangeArrowheads="1"/>
            </p:cNvSpPr>
            <p:nvPr userDrawn="1"/>
          </p:nvSpPr>
          <p:spPr bwMode="auto">
            <a:xfrm>
              <a:off x="6839773" y="528901"/>
              <a:ext cx="314201" cy="276967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I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 userDrawn="1"/>
          </p:nvSpPr>
          <p:spPr bwMode="auto">
            <a:xfrm>
              <a:off x="7279654" y="528901"/>
              <a:ext cx="314201" cy="276967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D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 userDrawn="1"/>
          </p:nvSpPr>
          <p:spPr bwMode="auto">
            <a:xfrm>
              <a:off x="7719536" y="528901"/>
              <a:ext cx="314201" cy="27696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O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 userDrawn="1"/>
          </p:nvSpPr>
          <p:spPr bwMode="auto">
            <a:xfrm>
              <a:off x="8159417" y="528901"/>
              <a:ext cx="314201" cy="27696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V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箭头连接符 15"/>
            <p:cNvCxnSpPr>
              <a:stCxn id="11" idx="3"/>
              <a:endCxn id="13" idx="1"/>
            </p:cNvCxnSpPr>
            <p:nvPr userDrawn="1"/>
          </p:nvCxnSpPr>
          <p:spPr>
            <a:xfrm>
              <a:off x="7153974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" name="直接箭头连接符 16"/>
            <p:cNvCxnSpPr>
              <a:stCxn id="13" idx="3"/>
              <a:endCxn id="14" idx="1"/>
            </p:cNvCxnSpPr>
            <p:nvPr userDrawn="1"/>
          </p:nvCxnSpPr>
          <p:spPr>
            <a:xfrm>
              <a:off x="7593855" y="667385"/>
              <a:ext cx="125681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" name="直接箭头连接符 17"/>
            <p:cNvCxnSpPr>
              <a:stCxn id="14" idx="3"/>
              <a:endCxn id="15" idx="1"/>
            </p:cNvCxnSpPr>
            <p:nvPr userDrawn="1"/>
          </p:nvCxnSpPr>
          <p:spPr>
            <a:xfrm>
              <a:off x="8033737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46" y="5872591"/>
            <a:ext cx="118901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61" y="88897"/>
            <a:ext cx="2284143" cy="52194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311" y="480488"/>
            <a:ext cx="620677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488"/>
            <a:ext cx="315057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6" y="6199189"/>
            <a:ext cx="93946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pic>
        <p:nvPicPr>
          <p:cNvPr id="8" name="图片 7" descr="16字关键词"/>
          <p:cNvPicPr>
            <a:picLocks noChangeAspect="1"/>
          </p:cNvPicPr>
          <p:nvPr userDrawn="1"/>
        </p:nvPicPr>
        <p:blipFill>
          <a:blip r:embed="rId3"/>
          <a:srcRect r="9119" b="30115"/>
          <a:stretch>
            <a:fillRect/>
          </a:stretch>
        </p:blipFill>
        <p:spPr>
          <a:xfrm>
            <a:off x="4963264" y="155568"/>
            <a:ext cx="3510354" cy="266688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3568392" y="13203"/>
            <a:ext cx="1664185" cy="442794"/>
            <a:chOff x="9344030" y="1319894"/>
            <a:chExt cx="1664150" cy="442814"/>
          </a:xfrm>
        </p:grpSpPr>
        <p:sp>
          <p:nvSpPr>
            <p:cNvPr id="4" name="矩形 3"/>
            <p:cNvSpPr/>
            <p:nvPr userDrawn="1"/>
          </p:nvSpPr>
          <p:spPr>
            <a:xfrm>
              <a:off x="9350830" y="1319894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普通商密</a:t>
              </a:r>
              <a:endParaRPr lang="zh-CN" altLang="zh-CN" sz="9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itchFamily="2" charset="-122"/>
                  <a:cs typeface="Arial" panose="020B0604020202090204" pitchFamily="34" charset="0"/>
                </a:rPr>
                <a:t>Confidential</a:t>
              </a:r>
              <a:endParaRPr lang="zh-CN" altLang="zh-CN" sz="11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6"/>
            <p:cNvSpPr txBox="1"/>
            <p:nvPr userDrawn="1"/>
          </p:nvSpPr>
          <p:spPr>
            <a:xfrm>
              <a:off x="9344030" y="1366634"/>
              <a:ext cx="449036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0646229" y="1366634"/>
              <a:ext cx="361951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839773" y="528902"/>
            <a:ext cx="1633845" cy="178330"/>
            <a:chOff x="6839773" y="528901"/>
            <a:chExt cx="1633845" cy="276967"/>
          </a:xfrm>
        </p:grpSpPr>
        <p:sp>
          <p:nvSpPr>
            <p:cNvPr id="11" name="Text Box 8"/>
            <p:cNvSpPr txBox="1">
              <a:spLocks noChangeArrowheads="1"/>
            </p:cNvSpPr>
            <p:nvPr userDrawn="1"/>
          </p:nvSpPr>
          <p:spPr bwMode="auto">
            <a:xfrm>
              <a:off x="6839773" y="528901"/>
              <a:ext cx="314201" cy="276967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I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 userDrawn="1"/>
          </p:nvSpPr>
          <p:spPr bwMode="auto">
            <a:xfrm>
              <a:off x="7279654" y="528901"/>
              <a:ext cx="314201" cy="276967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D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 userDrawn="1"/>
          </p:nvSpPr>
          <p:spPr bwMode="auto">
            <a:xfrm>
              <a:off x="7719536" y="528901"/>
              <a:ext cx="314201" cy="276967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O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 userDrawn="1"/>
          </p:nvSpPr>
          <p:spPr bwMode="auto">
            <a:xfrm>
              <a:off x="8159417" y="528901"/>
              <a:ext cx="314201" cy="276967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V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箭头连接符 15"/>
            <p:cNvCxnSpPr>
              <a:stCxn id="11" idx="3"/>
              <a:endCxn id="13" idx="1"/>
            </p:cNvCxnSpPr>
            <p:nvPr userDrawn="1"/>
          </p:nvCxnSpPr>
          <p:spPr>
            <a:xfrm>
              <a:off x="7153974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" name="直接箭头连接符 16"/>
            <p:cNvCxnSpPr>
              <a:stCxn id="13" idx="3"/>
              <a:endCxn id="14" idx="1"/>
            </p:cNvCxnSpPr>
            <p:nvPr userDrawn="1"/>
          </p:nvCxnSpPr>
          <p:spPr>
            <a:xfrm>
              <a:off x="7593855" y="667385"/>
              <a:ext cx="125681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" name="直接箭头连接符 17"/>
            <p:cNvCxnSpPr>
              <a:stCxn id="14" idx="3"/>
              <a:endCxn id="15" idx="1"/>
            </p:cNvCxnSpPr>
            <p:nvPr userDrawn="1"/>
          </p:nvCxnSpPr>
          <p:spPr>
            <a:xfrm>
              <a:off x="8033737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46" y="5872591"/>
            <a:ext cx="118901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224161" y="88897"/>
            <a:ext cx="2284143" cy="52194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2411311" y="480488"/>
            <a:ext cx="6206772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488"/>
            <a:ext cx="315057" cy="0"/>
          </a:xfrm>
          <a:prstGeom prst="line">
            <a:avLst/>
          </a:prstGeom>
          <a:ln w="19050">
            <a:solidFill>
              <a:srgbClr val="002E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206" y="6199189"/>
            <a:ext cx="93946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zh-CN" altLang="en-US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pic>
        <p:nvPicPr>
          <p:cNvPr id="8" name="图片 7" descr="16字关键词"/>
          <p:cNvPicPr>
            <a:picLocks noChangeAspect="1"/>
          </p:cNvPicPr>
          <p:nvPr userDrawn="1"/>
        </p:nvPicPr>
        <p:blipFill>
          <a:blip r:embed="rId3"/>
          <a:srcRect r="9119" b="30115"/>
          <a:stretch>
            <a:fillRect/>
          </a:stretch>
        </p:blipFill>
        <p:spPr>
          <a:xfrm>
            <a:off x="4963264" y="155568"/>
            <a:ext cx="3510354" cy="266688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3568392" y="13203"/>
            <a:ext cx="1664185" cy="442794"/>
            <a:chOff x="9344030" y="1319894"/>
            <a:chExt cx="1664150" cy="442814"/>
          </a:xfrm>
        </p:grpSpPr>
        <p:sp>
          <p:nvSpPr>
            <p:cNvPr id="4" name="矩形 3"/>
            <p:cNvSpPr/>
            <p:nvPr userDrawn="1"/>
          </p:nvSpPr>
          <p:spPr>
            <a:xfrm>
              <a:off x="9350830" y="1319894"/>
              <a:ext cx="1657350" cy="4428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普通商密</a:t>
              </a:r>
              <a:endParaRPr lang="zh-CN" altLang="zh-CN" sz="9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itchFamily="2" charset="-122"/>
                  <a:cs typeface="Arial" panose="020B0604020202090204" pitchFamily="34" charset="0"/>
                </a:rPr>
                <a:t>Confidential</a:t>
              </a:r>
              <a:endParaRPr lang="zh-CN" altLang="zh-CN" sz="1100" dirty="0">
                <a:effectLst/>
                <a:latin typeface="宋体" pitchFamily="2" charset="-122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  <p:sp>
          <p:nvSpPr>
            <p:cNvPr id="7" name="文本框 6"/>
            <p:cNvSpPr txBox="1"/>
            <p:nvPr userDrawn="1"/>
          </p:nvSpPr>
          <p:spPr>
            <a:xfrm>
              <a:off x="9344030" y="1366634"/>
              <a:ext cx="449036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0646229" y="1366634"/>
              <a:ext cx="361951" cy="368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800" dirty="0">
                  <a:solidFill>
                    <a:srgbClr val="FF0000"/>
                  </a:solidFill>
                  <a:effectLst/>
                  <a:latin typeface="宋体" pitchFamily="2" charset="-122"/>
                  <a:ea typeface="黑体" panose="02010609060101010101" pitchFamily="2" charset="-122"/>
                  <a:cs typeface="Arial" panose="020B0604020202090204" pitchFamily="34" charset="0"/>
                </a:rPr>
                <a:t>★</a:t>
              </a:r>
              <a:endParaRPr lang="zh-CN" altLang="en-US" sz="1800" dirty="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839773" y="528902"/>
            <a:ext cx="1633845" cy="178330"/>
            <a:chOff x="6839773" y="528901"/>
            <a:chExt cx="1633845" cy="276967"/>
          </a:xfrm>
        </p:grpSpPr>
        <p:sp>
          <p:nvSpPr>
            <p:cNvPr id="11" name="Text Box 8"/>
            <p:cNvSpPr txBox="1">
              <a:spLocks noChangeArrowheads="1"/>
            </p:cNvSpPr>
            <p:nvPr userDrawn="1"/>
          </p:nvSpPr>
          <p:spPr bwMode="auto">
            <a:xfrm>
              <a:off x="6839773" y="528901"/>
              <a:ext cx="314201" cy="276967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I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 userDrawn="1"/>
          </p:nvSpPr>
          <p:spPr bwMode="auto">
            <a:xfrm>
              <a:off x="7279654" y="528901"/>
              <a:ext cx="314201" cy="276967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D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 userDrawn="1"/>
          </p:nvSpPr>
          <p:spPr bwMode="auto">
            <a:xfrm>
              <a:off x="7719536" y="528901"/>
              <a:ext cx="314201" cy="276967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O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 userDrawn="1"/>
          </p:nvSpPr>
          <p:spPr bwMode="auto">
            <a:xfrm>
              <a:off x="8159417" y="528901"/>
              <a:ext cx="314201" cy="276967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90204" pitchFamily="34" charset="0"/>
                  <a:ea typeface="宋体" pitchFamily="2" charset="-122"/>
                  <a:cs typeface="Arial" panose="020B0604020202090204" pitchFamily="34" charset="0"/>
                </a:rPr>
                <a:t>V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箭头连接符 15"/>
            <p:cNvCxnSpPr>
              <a:stCxn id="11" idx="3"/>
              <a:endCxn id="13" idx="1"/>
            </p:cNvCxnSpPr>
            <p:nvPr userDrawn="1"/>
          </p:nvCxnSpPr>
          <p:spPr>
            <a:xfrm>
              <a:off x="7153974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" name="直接箭头连接符 16"/>
            <p:cNvCxnSpPr>
              <a:stCxn id="13" idx="3"/>
              <a:endCxn id="14" idx="1"/>
            </p:cNvCxnSpPr>
            <p:nvPr userDrawn="1"/>
          </p:nvCxnSpPr>
          <p:spPr>
            <a:xfrm>
              <a:off x="7593855" y="667385"/>
              <a:ext cx="125681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" name="直接箭头连接符 17"/>
            <p:cNvCxnSpPr>
              <a:stCxn id="14" idx="3"/>
              <a:endCxn id="15" idx="1"/>
            </p:cNvCxnSpPr>
            <p:nvPr userDrawn="1"/>
          </p:nvCxnSpPr>
          <p:spPr>
            <a:xfrm>
              <a:off x="8033737" y="667385"/>
              <a:ext cx="12568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46" y="5872591"/>
            <a:ext cx="118901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6字关键词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674" y="1960158"/>
            <a:ext cx="8358045" cy="827368"/>
          </a:xfrm>
          <a:prstGeom prst="rect">
            <a:avLst/>
          </a:prstGeom>
        </p:spPr>
      </p:pic>
      <p:pic>
        <p:nvPicPr>
          <p:cNvPr id="11" name="图片 1" descr="长安汽车(集团)品牌_国内_slogan组合_蓝标"/>
          <p:cNvPicPr>
            <a:picLocks noChangeAspect="1"/>
          </p:cNvPicPr>
          <p:nvPr userDrawn="1"/>
        </p:nvPicPr>
        <p:blipFill>
          <a:blip r:embed="rId3"/>
          <a:srcRect t="30006" b="29375"/>
          <a:stretch>
            <a:fillRect/>
          </a:stretch>
        </p:blipFill>
        <p:spPr>
          <a:xfrm>
            <a:off x="3005238" y="3558346"/>
            <a:ext cx="2654952" cy="60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 userDrawn="1"/>
        </p:nvCxnSpPr>
        <p:spPr>
          <a:xfrm>
            <a:off x="2411896" y="480509"/>
            <a:ext cx="620664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-5450" y="480509"/>
            <a:ext cx="31505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78" y="-454126"/>
            <a:ext cx="2887853" cy="1624226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9100" y="6034999"/>
            <a:ext cx="939441" cy="26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113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en-US" altLang="zh-CN" sz="113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6748074" y="137875"/>
            <a:ext cx="314201" cy="27696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1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7187955" y="137875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7627837" y="137875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 userDrawn="1"/>
        </p:nvSpPr>
        <p:spPr bwMode="auto">
          <a:xfrm>
            <a:off x="8067718" y="137875"/>
            <a:ext cx="314201" cy="276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12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14" name="直接箭头连接符 13"/>
          <p:cNvCxnSpPr>
            <a:stCxn id="7" idx="3"/>
            <a:endCxn id="8" idx="1"/>
          </p:cNvCxnSpPr>
          <p:nvPr userDrawn="1"/>
        </p:nvCxnSpPr>
        <p:spPr>
          <a:xfrm>
            <a:off x="7062275" y="276359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  <a:endCxn id="9" idx="1"/>
          </p:cNvCxnSpPr>
          <p:nvPr userDrawn="1"/>
        </p:nvCxnSpPr>
        <p:spPr>
          <a:xfrm>
            <a:off x="7502156" y="276359"/>
            <a:ext cx="1256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  <a:endCxn id="13" idx="1"/>
          </p:cNvCxnSpPr>
          <p:nvPr userDrawn="1"/>
        </p:nvCxnSpPr>
        <p:spPr>
          <a:xfrm>
            <a:off x="7942038" y="276359"/>
            <a:ext cx="125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136" y="5842322"/>
            <a:ext cx="1128473" cy="53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阶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>
          <a:xfrm>
            <a:off x="1828737" y="507425"/>
            <a:ext cx="678823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-4316" y="507425"/>
            <a:ext cx="47894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E:\钟秉良\logo\新标识\新标识组合\1.1企业标识.png1.1企业标识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27993" y="137795"/>
            <a:ext cx="1047076" cy="3695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873" y="5956302"/>
            <a:ext cx="1063586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2"/>
          <p:cNvSpPr>
            <a:spLocks noChangeArrowheads="1"/>
          </p:cNvSpPr>
          <p:nvPr userDrawn="1"/>
        </p:nvSpPr>
        <p:spPr bwMode="auto">
          <a:xfrm>
            <a:off x="3231833" y="198812"/>
            <a:ext cx="2176324" cy="2475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705" b="1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内部信息，未经披露，严格保密</a:t>
            </a:r>
            <a:endParaRPr lang="zh-CN" altLang="en-US" sz="705" b="1" dirty="0">
              <a:solidFill>
                <a:srgbClr val="FF0000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9" name="文本框 1"/>
          <p:cNvSpPr txBox="1">
            <a:spLocks noChangeArrowheads="1"/>
          </p:cNvSpPr>
          <p:nvPr userDrawn="1"/>
        </p:nvSpPr>
        <p:spPr bwMode="auto">
          <a:xfrm>
            <a:off x="1" y="6208715"/>
            <a:ext cx="827058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744" tIns="36372" rIns="72744" bIns="36372">
            <a:spAutoFit/>
          </a:bodyPr>
          <a:lstStyle>
            <a:defPPr>
              <a:defRPr lang="zh-CN"/>
            </a:defPPr>
            <a:lvl1pPr lvl="0" defTabSz="969645" eaLnBrk="1" hangingPunct="1">
              <a:defRPr sz="1000">
                <a:solidFill>
                  <a:srgbClr val="7F7F7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90204" pitchFamily="34" charset="0"/>
              </a:defRPr>
            </a:lvl1pPr>
            <a:lvl2pPr marL="742950" indent="-285750" eaLnBrk="0" hangingPunct="0">
              <a:defRPr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/>
            <a:fld id="{4DC1F28F-D84B-42C8-98D6-DCAA4E9C2DD8}" type="slidenum">
              <a:rPr lang="zh-CN" altLang="en-US" sz="113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1130" b="1" dirty="0">
                <a:sym typeface="+mn-ea"/>
              </a:rPr>
              <a:t>/</a:t>
            </a:r>
            <a:r>
              <a:rPr lang="zh-CN" altLang="en-US" sz="1130" b="1" dirty="0">
                <a:sym typeface="+mn-ea"/>
              </a:rPr>
              <a:t> </a:t>
            </a:r>
            <a:r>
              <a:rPr lang="en-US" altLang="zh-CN" sz="1130" b="1" dirty="0">
                <a:sym typeface="+mn-ea"/>
              </a:rPr>
              <a:t>30</a:t>
            </a:r>
            <a:endParaRPr lang="zh-CN" altLang="en-US" sz="1130" b="1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 userDrawn="1"/>
        </p:nvSpPr>
        <p:spPr bwMode="auto">
          <a:xfrm>
            <a:off x="6779923" y="211772"/>
            <a:ext cx="296134" cy="22161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endParaRPr lang="en-US" altLang="zh-CN" sz="85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 userDrawn="1"/>
        </p:nvSpPr>
        <p:spPr bwMode="auto">
          <a:xfrm>
            <a:off x="7633433" y="231419"/>
            <a:ext cx="314201" cy="22161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D</a:t>
            </a:r>
            <a:endParaRPr lang="en-US" altLang="zh-CN" sz="85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 userDrawn="1"/>
        </p:nvSpPr>
        <p:spPr bwMode="auto">
          <a:xfrm>
            <a:off x="8073315" y="231419"/>
            <a:ext cx="314201" cy="221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endParaRPr lang="en-US" altLang="zh-CN" sz="85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 userDrawn="1"/>
        </p:nvSpPr>
        <p:spPr bwMode="auto">
          <a:xfrm>
            <a:off x="8513196" y="231419"/>
            <a:ext cx="314201" cy="2216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rPr>
              <a:t>V</a:t>
            </a:r>
            <a:endParaRPr lang="en-US" altLang="zh-CN" sz="85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26" name="直接箭头连接符 2"/>
          <p:cNvCxnSpPr>
            <a:stCxn id="22" idx="3"/>
            <a:endCxn id="23" idx="1"/>
          </p:cNvCxnSpPr>
          <p:nvPr userDrawn="1"/>
        </p:nvCxnSpPr>
        <p:spPr>
          <a:xfrm>
            <a:off x="6669086" y="304025"/>
            <a:ext cx="525472" cy="18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16"/>
          <p:cNvCxnSpPr>
            <a:stCxn id="23" idx="3"/>
            <a:endCxn id="24" idx="1"/>
          </p:cNvCxnSpPr>
          <p:nvPr userDrawn="1"/>
        </p:nvCxnSpPr>
        <p:spPr>
          <a:xfrm>
            <a:off x="7490645" y="322580"/>
            <a:ext cx="118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19"/>
          <p:cNvCxnSpPr>
            <a:stCxn id="24" idx="3"/>
            <a:endCxn id="25" idx="1"/>
          </p:cNvCxnSpPr>
          <p:nvPr userDrawn="1"/>
        </p:nvCxnSpPr>
        <p:spPr>
          <a:xfrm>
            <a:off x="7905234" y="322580"/>
            <a:ext cx="118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DOV-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873" y="5956301"/>
            <a:ext cx="1063586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文本框 1"/>
          <p:cNvSpPr txBox="1">
            <a:spLocks noChangeArrowheads="1"/>
          </p:cNvSpPr>
          <p:nvPr userDrawn="1"/>
        </p:nvSpPr>
        <p:spPr bwMode="auto">
          <a:xfrm>
            <a:off x="1" y="6208713"/>
            <a:ext cx="827058" cy="242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7" tIns="48493" rIns="96987" bIns="48493">
            <a:spAutoFit/>
          </a:bodyPr>
          <a:lstStyle>
            <a:defPPr>
              <a:defRPr lang="zh-CN"/>
            </a:defPPr>
            <a:lvl1pPr lvl="0" defTabSz="969645" eaLnBrk="1" hangingPunct="1">
              <a:defRPr sz="1000">
                <a:solidFill>
                  <a:srgbClr val="7F7F7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90204" pitchFamily="34" charset="0"/>
              </a:defRPr>
            </a:lvl1pPr>
            <a:lvl2pPr marL="742950" indent="-285750" eaLnBrk="0" hangingPunct="0">
              <a:defRPr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0"/>
            <a:fld id="{4DC1F28F-D84B-42C8-98D6-DCAA4E9C2DD8}" type="slidenum">
              <a:rPr lang="zh-CN" altLang="en-US" sz="945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945" b="1" dirty="0">
                <a:sym typeface="+mn-ea"/>
              </a:rPr>
              <a:t>/</a:t>
            </a:r>
            <a:r>
              <a:rPr lang="zh-CN" altLang="en-US" sz="945" b="1" dirty="0">
                <a:sym typeface="+mn-ea"/>
              </a:rPr>
              <a:t> </a:t>
            </a:r>
            <a:r>
              <a:rPr lang="en-US" altLang="zh-CN" sz="945" b="1" dirty="0">
                <a:sym typeface="+mn-ea"/>
              </a:rPr>
              <a:t>30</a:t>
            </a:r>
            <a:endParaRPr lang="zh-CN" altLang="en-US" sz="945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4" name="Rectangle 2"/>
          <p:cNvSpPr>
            <a:spLocks noChangeArrowheads="1"/>
          </p:cNvSpPr>
          <p:nvPr userDrawn="1"/>
        </p:nvSpPr>
        <p:spPr bwMode="auto">
          <a:xfrm>
            <a:off x="2968834" y="162037"/>
            <a:ext cx="2176324" cy="2475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lIns="0" tIns="0" rIns="0" bIns="0" anchor="ctr" anchorCtr="1"/>
          <a:lstStyle/>
          <a:p>
            <a:pPr algn="ctr"/>
            <a:r>
              <a:rPr lang="zh-CN" altLang="en-US" sz="1130" b="1" dirty="0">
                <a:solidFill>
                  <a:srgbClr val="FF0000"/>
                </a:solidFill>
              </a:rPr>
              <a:t>内幕信息，未经披露，严格保密</a:t>
            </a:r>
            <a:endParaRPr lang="zh-CN" altLang="en-US" sz="1130" b="1" dirty="0">
              <a:solidFill>
                <a:srgbClr val="FF0000"/>
              </a:solidFill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2273212" y="452924"/>
            <a:ext cx="6345008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>
            <a:off x="-5137" y="452924"/>
            <a:ext cx="29693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长安汽车(集团)品牌_国内_slogan组合_蓝标"/>
          <p:cNvPicPr>
            <a:picLocks noChangeAspect="1"/>
          </p:cNvPicPr>
          <p:nvPr userDrawn="1"/>
        </p:nvPicPr>
        <p:blipFill>
          <a:blip r:embed="rId3"/>
          <a:srcRect t="30006" b="29375"/>
          <a:stretch>
            <a:fillRect/>
          </a:stretch>
        </p:blipFill>
        <p:spPr>
          <a:xfrm>
            <a:off x="211267" y="83797"/>
            <a:ext cx="2152760" cy="49200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867364" y="143999"/>
            <a:ext cx="1539899" cy="264795"/>
            <a:chOff x="6818416" y="155573"/>
            <a:chExt cx="1633845" cy="280922"/>
          </a:xfrm>
        </p:grpSpPr>
        <p:sp>
          <p:nvSpPr>
            <p:cNvPr id="19" name="Text Box 8"/>
            <p:cNvSpPr txBox="1">
              <a:spLocks noChangeArrowheads="1"/>
            </p:cNvSpPr>
            <p:nvPr userDrawn="1"/>
          </p:nvSpPr>
          <p:spPr bwMode="auto">
            <a:xfrm>
              <a:off x="6818416" y="155573"/>
              <a:ext cx="314201" cy="280922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I</a:t>
              </a:r>
              <a:endParaRPr lang="en-US" altLang="zh-CN" sz="113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0" name="Text Box 9"/>
            <p:cNvSpPr txBox="1">
              <a:spLocks noChangeArrowheads="1"/>
            </p:cNvSpPr>
            <p:nvPr userDrawn="1"/>
          </p:nvSpPr>
          <p:spPr bwMode="auto">
            <a:xfrm>
              <a:off x="7258297" y="155573"/>
              <a:ext cx="314201" cy="280922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D</a:t>
              </a:r>
              <a:endParaRPr lang="en-US" altLang="zh-CN" sz="113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1" name="Text Box 10"/>
            <p:cNvSpPr txBox="1">
              <a:spLocks noChangeArrowheads="1"/>
            </p:cNvSpPr>
            <p:nvPr userDrawn="1"/>
          </p:nvSpPr>
          <p:spPr bwMode="auto">
            <a:xfrm>
              <a:off x="7698179" y="155573"/>
              <a:ext cx="314201" cy="280922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O</a:t>
              </a:r>
              <a:endParaRPr lang="en-US" altLang="zh-CN" sz="113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" name="Text Box 11"/>
            <p:cNvSpPr txBox="1">
              <a:spLocks noChangeArrowheads="1"/>
            </p:cNvSpPr>
            <p:nvPr userDrawn="1"/>
          </p:nvSpPr>
          <p:spPr bwMode="auto">
            <a:xfrm>
              <a:off x="8138060" y="155573"/>
              <a:ext cx="314201" cy="2809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V</a:t>
              </a:r>
              <a:endParaRPr lang="en-US" altLang="zh-CN" sz="113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cxnSp>
          <p:nvCxnSpPr>
            <p:cNvPr id="23" name="直接箭头连接符 22"/>
            <p:cNvCxnSpPr>
              <a:stCxn id="19" idx="3"/>
              <a:endCxn id="20" idx="1"/>
            </p:cNvCxnSpPr>
            <p:nvPr userDrawn="1"/>
          </p:nvCxnSpPr>
          <p:spPr>
            <a:xfrm>
              <a:off x="7132617" y="296709"/>
              <a:ext cx="1259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20" idx="3"/>
              <a:endCxn id="21" idx="1"/>
            </p:cNvCxnSpPr>
            <p:nvPr userDrawn="1"/>
          </p:nvCxnSpPr>
          <p:spPr>
            <a:xfrm>
              <a:off x="7572498" y="296709"/>
              <a:ext cx="1259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21" idx="3"/>
              <a:endCxn id="22" idx="1"/>
            </p:cNvCxnSpPr>
            <p:nvPr userDrawn="1"/>
          </p:nvCxnSpPr>
          <p:spPr>
            <a:xfrm>
              <a:off x="8012380" y="296709"/>
              <a:ext cx="1253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Sigma-I阶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808772" y="480509"/>
            <a:ext cx="6809448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 userDrawn="1"/>
        </p:nvCxnSpPr>
        <p:spPr>
          <a:xfrm>
            <a:off x="-4087" y="480509"/>
            <a:ext cx="236268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长安汽车(集团)品牌_国内_slogan组合_蓝标"/>
          <p:cNvPicPr>
            <a:picLocks noChangeAspect="1"/>
          </p:cNvPicPr>
          <p:nvPr userDrawn="1"/>
        </p:nvPicPr>
        <p:blipFill>
          <a:blip r:embed="rId2"/>
          <a:srcRect t="30006" b="29375"/>
          <a:stretch>
            <a:fillRect/>
          </a:stretch>
        </p:blipFill>
        <p:spPr>
          <a:xfrm>
            <a:off x="168103" y="88900"/>
            <a:ext cx="1712929" cy="52197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154" y="6199464"/>
            <a:ext cx="704523" cy="20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DC1F28F-D84B-42C8-98D6-DCAA4E9C2DD8}" type="slidenum">
              <a:rPr lang="zh-CN" altLang="en-US" sz="750" b="1" smtClean="0">
                <a:latin typeface="微软雅黑" panose="020B0703020204020201" pitchFamily="34" charset="-122"/>
                <a:ea typeface="微软雅黑" panose="020B0703020204020201" pitchFamily="34" charset="-122"/>
              </a:rPr>
            </a:fld>
            <a:r>
              <a:rPr lang="en-US" altLang="zh-CN" sz="75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/</a:t>
            </a:r>
            <a:r>
              <a:rPr lang="zh-CN" altLang="en-US" sz="75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 </a:t>
            </a:r>
            <a:r>
              <a:rPr lang="en-US" altLang="zh-CN" sz="750" b="1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30</a:t>
            </a:r>
            <a:endParaRPr lang="en-US" altLang="zh-CN" sz="75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634623" y="12123"/>
            <a:ext cx="1171539" cy="4173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90" dirty="0">
                <a:solidFill>
                  <a:srgbClr val="FF0000"/>
                </a:solidFill>
                <a:effectLst/>
                <a:latin typeface="宋体" pitchFamily="2" charset="-122"/>
                <a:ea typeface="黑体" panose="02010609060101010101" pitchFamily="2" charset="-122"/>
                <a:cs typeface="Arial" panose="020B0604020202090204" pitchFamily="34" charset="0"/>
              </a:rPr>
              <a:t>普通商密</a:t>
            </a:r>
            <a:endParaRPr lang="en-US" altLang="zh-CN" sz="990" dirty="0">
              <a:solidFill>
                <a:srgbClr val="FF0000"/>
              </a:solidFill>
              <a:effectLst/>
              <a:latin typeface="宋体" pitchFamily="2" charset="-122"/>
              <a:ea typeface="黑体" panose="02010609060101010101" pitchFamily="2" charset="-122"/>
              <a:cs typeface="Arial" panose="020B060402020209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90" b="1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+mn-ea"/>
                <a:cs typeface="Arial" panose="020B0604020202090204" pitchFamily="34" charset="0"/>
              </a:rPr>
              <a:t>Restricted</a:t>
            </a:r>
            <a:endParaRPr lang="zh-CN" altLang="zh-CN" sz="780" dirty="0">
              <a:effectLst/>
              <a:latin typeface="宋体" pitchFamily="2" charset="-122"/>
              <a:ea typeface="+mn-ea"/>
              <a:cs typeface="Times New Roman" panose="0202050305040509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18620" y="42910"/>
            <a:ext cx="1999600" cy="41949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945502" y="581852"/>
            <a:ext cx="1576960" cy="243147"/>
            <a:chOff x="8989138" y="648074"/>
            <a:chExt cx="2734887" cy="290945"/>
          </a:xfrm>
        </p:grpSpPr>
        <p:sp>
          <p:nvSpPr>
            <p:cNvPr id="7" name="矩形 6"/>
            <p:cNvSpPr/>
            <p:nvPr userDrawn="1"/>
          </p:nvSpPr>
          <p:spPr>
            <a:xfrm>
              <a:off x="8989138" y="648074"/>
              <a:ext cx="457200" cy="29094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70" b="1" dirty="0">
                  <a:solidFill>
                    <a:schemeClr val="tx1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rPr>
                <a:t>I</a:t>
              </a:r>
              <a:endParaRPr kumimoji="1" lang="zh-CN" altLang="en-US" sz="1270" b="1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9748367" y="648074"/>
              <a:ext cx="457200" cy="290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70" b="1" dirty="0">
                  <a:solidFill>
                    <a:schemeClr val="tx1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rPr>
                <a:t>D</a:t>
              </a:r>
              <a:endParaRPr kumimoji="1" lang="zh-CN" altLang="en-US" sz="1270" b="1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10507596" y="648074"/>
              <a:ext cx="457200" cy="290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70" b="1" dirty="0">
                  <a:solidFill>
                    <a:schemeClr val="tx1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rPr>
                <a:t>O</a:t>
              </a:r>
              <a:endParaRPr kumimoji="1" lang="zh-CN" altLang="en-US" sz="1270" b="1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1266825" y="648074"/>
              <a:ext cx="457200" cy="290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70" b="1" dirty="0">
                  <a:solidFill>
                    <a:schemeClr val="tx1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rPr>
                <a:t>V</a:t>
              </a:r>
              <a:endParaRPr kumimoji="1" lang="zh-CN" altLang="en-US" sz="1270" b="1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</p:txBody>
        </p:sp>
        <p:cxnSp>
          <p:nvCxnSpPr>
            <p:cNvPr id="15" name="直接箭头连接符 14"/>
            <p:cNvCxnSpPr>
              <a:stCxn id="7" idx="3"/>
              <a:endCxn id="9" idx="1"/>
            </p:cNvCxnSpPr>
            <p:nvPr userDrawn="1"/>
          </p:nvCxnSpPr>
          <p:spPr>
            <a:xfrm>
              <a:off x="9446338" y="793547"/>
              <a:ext cx="302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3"/>
              <a:endCxn id="11" idx="1"/>
            </p:cNvCxnSpPr>
            <p:nvPr userDrawn="1"/>
          </p:nvCxnSpPr>
          <p:spPr>
            <a:xfrm>
              <a:off x="10205567" y="793547"/>
              <a:ext cx="302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1" idx="3"/>
              <a:endCxn id="12" idx="1"/>
            </p:cNvCxnSpPr>
            <p:nvPr userDrawn="1"/>
          </p:nvCxnSpPr>
          <p:spPr>
            <a:xfrm>
              <a:off x="10964796" y="793547"/>
              <a:ext cx="302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646430" rtl="0" eaLnBrk="1" latinLnBrk="0" hangingPunct="1">
        <a:lnSpc>
          <a:spcPct val="90000"/>
        </a:lnSpc>
        <a:spcBef>
          <a:spcPct val="0"/>
        </a:spcBef>
        <a:buNone/>
        <a:defRPr sz="31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290" indent="-160655" algn="l" defTabSz="646430" rtl="0" eaLnBrk="1" latinLnBrk="0" hangingPunct="1">
        <a:lnSpc>
          <a:spcPct val="90000"/>
        </a:lnSpc>
        <a:spcBef>
          <a:spcPts val="705"/>
        </a:spcBef>
        <a:buFont typeface="Arial" panose="020B060402020209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48450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695" kern="1200">
          <a:solidFill>
            <a:schemeClr val="tx1"/>
          </a:solidFill>
          <a:latin typeface="+mn-lt"/>
          <a:ea typeface="+mn-ea"/>
          <a:cs typeface="+mn-cs"/>
        </a:defRPr>
      </a:lvl2pPr>
      <a:lvl3pPr marL="80772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13093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4pPr>
      <a:lvl5pPr marL="145415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5pPr>
      <a:lvl6pPr marL="177736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6pPr>
      <a:lvl7pPr marL="210058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7pPr>
      <a:lvl8pPr marL="242379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8pPr>
      <a:lvl9pPr marL="274701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2321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2pPr>
      <a:lvl3pPr marL="64643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3pPr>
      <a:lvl4pPr marL="96964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4pPr>
      <a:lvl5pPr marL="129286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5pPr>
      <a:lvl6pPr marL="161607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6pPr>
      <a:lvl7pPr marL="193929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7pPr>
      <a:lvl8pPr marL="226250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8pPr>
      <a:lvl9pPr marL="258572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</p:sldLayoutIdLst>
  <p:hf hdr="0" ftr="0" dt="0"/>
  <p:txStyles>
    <p:titleStyle>
      <a:lvl1pPr algn="l" defTabSz="646430" rtl="0" eaLnBrk="1" latinLnBrk="0" hangingPunct="1">
        <a:lnSpc>
          <a:spcPct val="90000"/>
        </a:lnSpc>
        <a:spcBef>
          <a:spcPct val="0"/>
        </a:spcBef>
        <a:buNone/>
        <a:defRPr sz="31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290" indent="-160655" algn="l" defTabSz="646430" rtl="0" eaLnBrk="1" latinLnBrk="0" hangingPunct="1">
        <a:lnSpc>
          <a:spcPct val="90000"/>
        </a:lnSpc>
        <a:spcBef>
          <a:spcPts val="705"/>
        </a:spcBef>
        <a:buFont typeface="Arial" panose="020B060402020209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48450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695" kern="1200">
          <a:solidFill>
            <a:schemeClr val="tx1"/>
          </a:solidFill>
          <a:latin typeface="+mn-lt"/>
          <a:ea typeface="+mn-ea"/>
          <a:cs typeface="+mn-cs"/>
        </a:defRPr>
      </a:lvl2pPr>
      <a:lvl3pPr marL="80772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13093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4pPr>
      <a:lvl5pPr marL="145415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5pPr>
      <a:lvl6pPr marL="177736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6pPr>
      <a:lvl7pPr marL="210058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7pPr>
      <a:lvl8pPr marL="242379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8pPr>
      <a:lvl9pPr marL="274701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2321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2pPr>
      <a:lvl3pPr marL="64643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3pPr>
      <a:lvl4pPr marL="96964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4pPr>
      <a:lvl5pPr marL="129286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5pPr>
      <a:lvl6pPr marL="161607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6pPr>
      <a:lvl7pPr marL="193929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7pPr>
      <a:lvl8pPr marL="226250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8pPr>
      <a:lvl9pPr marL="258572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lvl1pPr algn="l" defTabSz="646430" rtl="0" eaLnBrk="1" latinLnBrk="0" hangingPunct="1">
        <a:lnSpc>
          <a:spcPct val="90000"/>
        </a:lnSpc>
        <a:spcBef>
          <a:spcPct val="0"/>
        </a:spcBef>
        <a:buNone/>
        <a:defRPr sz="31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290" indent="-160655" algn="l" defTabSz="646430" rtl="0" eaLnBrk="1" latinLnBrk="0" hangingPunct="1">
        <a:lnSpc>
          <a:spcPct val="90000"/>
        </a:lnSpc>
        <a:spcBef>
          <a:spcPts val="705"/>
        </a:spcBef>
        <a:buFont typeface="Arial" panose="020B060402020209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48450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695" kern="1200">
          <a:solidFill>
            <a:schemeClr val="tx1"/>
          </a:solidFill>
          <a:latin typeface="+mn-lt"/>
          <a:ea typeface="+mn-ea"/>
          <a:cs typeface="+mn-cs"/>
        </a:defRPr>
      </a:lvl2pPr>
      <a:lvl3pPr marL="80772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13093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4pPr>
      <a:lvl5pPr marL="145415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5pPr>
      <a:lvl6pPr marL="177673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6pPr>
      <a:lvl7pPr marL="209994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7pPr>
      <a:lvl8pPr marL="2423160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8pPr>
      <a:lvl9pPr marL="2746375" indent="-160655" algn="l" defTabSz="646430" rtl="0" eaLnBrk="1" latinLnBrk="0" hangingPunct="1">
        <a:lnSpc>
          <a:spcPct val="90000"/>
        </a:lnSpc>
        <a:spcBef>
          <a:spcPct val="71000"/>
        </a:spcBef>
        <a:buFont typeface="Arial" panose="020B060402020209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2321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2pPr>
      <a:lvl3pPr marL="64643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3pPr>
      <a:lvl4pPr marL="96964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4pPr>
      <a:lvl5pPr marL="129286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5pPr>
      <a:lvl6pPr marL="161544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6pPr>
      <a:lvl7pPr marL="193865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7pPr>
      <a:lvl8pPr marL="2261870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8pPr>
      <a:lvl9pPr marL="2585085" algn="l" defTabSz="646430" rtl="0" eaLnBrk="1" latinLnBrk="0" hangingPunct="1">
        <a:defRPr sz="12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0.png"/><Relationship Id="rId1" Type="http://schemas.openxmlformats.org/officeDocument/2006/relationships/tags" Target="../tags/tag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1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1.png"/><Relationship Id="rId2" Type="http://schemas.openxmlformats.org/officeDocument/2006/relationships/package" Target="../embeddings/Workbook2.xlsx"/><Relationship Id="rId1" Type="http://schemas.openxmlformats.org/officeDocument/2006/relationships/tags" Target="../tags/tag12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6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 txBox="1">
            <a:spLocks noChangeArrowheads="1"/>
          </p:cNvSpPr>
          <p:nvPr/>
        </p:nvSpPr>
        <p:spPr bwMode="auto">
          <a:xfrm>
            <a:off x="813354" y="1887687"/>
            <a:ext cx="6480362" cy="31840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0510" indent="-270510">
              <a:lnSpc>
                <a:spcPct val="200000"/>
              </a:lnSpc>
            </a:pP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部门：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移动服务</a:t>
            </a:r>
            <a:endParaRPr lang="zh-CN" altLang="en-US" sz="1695" b="1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+mn-ea"/>
            </a:endParaRPr>
          </a:p>
          <a:p>
            <a:pPr marL="270510" indent="-270510">
              <a:lnSpc>
                <a:spcPct val="200000"/>
              </a:lnSpc>
            </a:pP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项目牵头人：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蒋涛</a:t>
            </a:r>
            <a:endParaRPr lang="zh-CN" altLang="en-US" sz="169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70510" indent="-270510">
              <a:lnSpc>
                <a:spcPct val="200000"/>
              </a:lnSpc>
            </a:pP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项目</a:t>
            </a:r>
            <a:r>
              <a:rPr lang="en-US" altLang="zh-CN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Champion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：郝金隆</a:t>
            </a:r>
            <a:endParaRPr lang="zh-CN" altLang="en-US" sz="169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70510" indent="-270510">
              <a:lnSpc>
                <a:spcPct val="200000"/>
              </a:lnSpc>
            </a:pP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项目启动日期：</a:t>
            </a:r>
            <a:r>
              <a:rPr lang="en-US" altLang="zh-CN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2025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年</a:t>
            </a:r>
            <a:r>
              <a:rPr lang="en-US" altLang="zh-CN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03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月</a:t>
            </a:r>
            <a:endParaRPr lang="zh-CN" altLang="en-US" sz="169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70510" indent="-270510">
              <a:lnSpc>
                <a:spcPct val="200000"/>
              </a:lnSpc>
            </a:pP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项目完成日期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 panose="05000000000000000000" pitchFamily="2" charset="2"/>
              </a:rPr>
              <a:t>：</a:t>
            </a:r>
            <a:r>
              <a:rPr lang="en-US" altLang="zh-CN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2025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年</a:t>
            </a:r>
            <a:r>
              <a:rPr lang="en-US" altLang="zh-CN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06</a:t>
            </a: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+mn-ea"/>
              </a:rPr>
              <a:t>月</a:t>
            </a:r>
            <a:endParaRPr lang="zh-CN" altLang="en-US" sz="1695" b="1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Wingdings" panose="05000000000000000000" pitchFamily="2" charset="2"/>
            </a:endParaRPr>
          </a:p>
          <a:p>
            <a:pPr marL="270510" indent="-270510">
              <a:lnSpc>
                <a:spcPct val="200000"/>
              </a:lnSpc>
            </a:pPr>
            <a:r>
              <a:rPr lang="zh-CN" altLang="en-US" sz="169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Wingdings" panose="05000000000000000000" pitchFamily="2" charset="2"/>
              </a:rPr>
              <a:t>当前进展：</a:t>
            </a:r>
            <a:endParaRPr lang="en-US" altLang="zh-CN" sz="169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196013" y="2083012"/>
            <a:ext cx="8135241" cy="5985"/>
          </a:xfrm>
          <a:prstGeom prst="line">
            <a:avLst/>
          </a:prstGeom>
          <a:ln w="66675" cmpd="thickThin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TextBox 2"/>
          <p:cNvSpPr txBox="1">
            <a:spLocks noChangeArrowheads="1"/>
          </p:cNvSpPr>
          <p:nvPr/>
        </p:nvSpPr>
        <p:spPr bwMode="auto">
          <a:xfrm>
            <a:off x="196012" y="346940"/>
            <a:ext cx="3303773" cy="3243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510" b="1" dirty="0">
                <a:solidFill>
                  <a:srgbClr val="0000FF"/>
                </a:solidFill>
                <a:latin typeface="微软雅黑"/>
                <a:ea typeface="微软雅黑"/>
                <a:cs typeface="Arial" panose="020B0604020202090204" pitchFamily="34" charset="0"/>
              </a:rPr>
              <a:t>6</a:t>
            </a:r>
            <a:r>
              <a:rPr lang="el-GR" altLang="zh-CN" sz="1510" b="1" dirty="0">
                <a:solidFill>
                  <a:srgbClr val="0000FF"/>
                </a:solidFill>
                <a:latin typeface="微软雅黑"/>
                <a:ea typeface="微软雅黑"/>
                <a:cs typeface="Arial" panose="020B0604020202090204" pitchFamily="34" charset="0"/>
              </a:rPr>
              <a:t>σ</a:t>
            </a:r>
            <a:r>
              <a:rPr lang="zh-CN" altLang="en-US" sz="1510" b="1" dirty="0">
                <a:solidFill>
                  <a:srgbClr val="0000FF"/>
                </a:solidFill>
                <a:latin typeface="微软雅黑"/>
                <a:ea typeface="微软雅黑"/>
                <a:cs typeface="Arial" panose="020B0604020202090204" pitchFamily="34" charset="0"/>
              </a:rPr>
              <a:t>报告</a:t>
            </a:r>
            <a:r>
              <a:rPr lang="en-US" altLang="zh-CN" sz="1510" b="1" dirty="0">
                <a:solidFill>
                  <a:srgbClr val="0000FF"/>
                </a:solidFill>
                <a:latin typeface="微软雅黑"/>
                <a:ea typeface="微软雅黑"/>
                <a:cs typeface="Arial" panose="020B0604020202090204" pitchFamily="34" charset="0"/>
              </a:rPr>
              <a:t>——</a:t>
            </a:r>
            <a:endParaRPr lang="zh-CN" altLang="en-US" sz="1510" b="1" dirty="0">
              <a:solidFill>
                <a:srgbClr val="0000FF"/>
              </a:solidFill>
              <a:latin typeface="微软雅黑"/>
              <a:ea typeface="微软雅黑"/>
              <a:cs typeface="Arial" panose="020B0604020202090204" pitchFamily="34" charset="0"/>
            </a:endParaRPr>
          </a:p>
        </p:txBody>
      </p:sp>
      <p:grpSp>
        <p:nvGrpSpPr>
          <p:cNvPr id="6" name="Group 6"/>
          <p:cNvGrpSpPr/>
          <p:nvPr/>
        </p:nvGrpSpPr>
        <p:grpSpPr bwMode="auto">
          <a:xfrm>
            <a:off x="2231910" y="4962940"/>
            <a:ext cx="1539956" cy="266420"/>
            <a:chOff x="3792" y="-22"/>
            <a:chExt cx="1248" cy="397"/>
          </a:xfrm>
          <a:solidFill>
            <a:schemeClr val="bg1"/>
          </a:solidFill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3792" y="-22"/>
              <a:ext cx="240" cy="39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I</a:t>
              </a:r>
              <a:endParaRPr lang="en-US" altLang="zh-CN" sz="113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4128" y="-22"/>
              <a:ext cx="240" cy="39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D</a:t>
              </a:r>
              <a:endParaRPr lang="en-US" altLang="zh-CN" sz="113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4464" y="-22"/>
              <a:ext cx="240" cy="39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O</a:t>
              </a:r>
              <a:endParaRPr lang="en-US" altLang="zh-CN" sz="113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4800" y="-22"/>
              <a:ext cx="240" cy="39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en-US" altLang="zh-CN" sz="113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90204" pitchFamily="34" charset="0"/>
                  <a:cs typeface="Arial" panose="020B0604020202090204" pitchFamily="34" charset="0"/>
                </a:rPr>
                <a:t>V</a:t>
              </a:r>
              <a:endParaRPr lang="en-US" altLang="zh-CN" sz="113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5" name="文本框 3"/>
          <p:cNvSpPr txBox="1">
            <a:spLocks noChangeArrowheads="1"/>
          </p:cNvSpPr>
          <p:nvPr/>
        </p:nvSpPr>
        <p:spPr bwMode="auto">
          <a:xfrm>
            <a:off x="430927" y="1370785"/>
            <a:ext cx="7764166" cy="555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015" b="1" dirty="0">
                <a:solidFill>
                  <a:srgbClr val="0000FF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90204" pitchFamily="34" charset="0"/>
              </a:rPr>
              <a:t>多场景扫描增强架构</a:t>
            </a:r>
            <a:endParaRPr lang="zh-CN" altLang="en-US" sz="3015" b="1" dirty="0">
              <a:solidFill>
                <a:srgbClr val="0000FF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41" y="5381353"/>
            <a:ext cx="2292267" cy="87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681789" y="5405416"/>
            <a:ext cx="73793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移动</a:t>
            </a:r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服务</a:t>
            </a:r>
            <a:endParaRPr lang="zh-CN" altLang="en-US" sz="100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1789" y="5706478"/>
            <a:ext cx="7379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核心商密</a:t>
            </a:r>
            <a:endParaRPr lang="zh-CN" altLang="en-US" sz="100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17474" y="5706478"/>
            <a:ext cx="7379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10</a:t>
            </a:r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年</a:t>
            </a:r>
            <a:endParaRPr lang="zh-CN" altLang="en-US" sz="100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5263" y="5983580"/>
            <a:ext cx="1326779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2025</a:t>
            </a:r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年月</a:t>
            </a:r>
            <a:r>
              <a:rPr lang="en-US" altLang="zh-CN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3</a:t>
            </a:r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日</a:t>
            </a:r>
            <a:endParaRPr lang="zh-CN" altLang="en-US" sz="100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ChangeArrowheads="1"/>
          </p:cNvSpPr>
          <p:nvPr/>
        </p:nvSpPr>
        <p:spPr bwMode="auto">
          <a:xfrm>
            <a:off x="3339684" y="1976334"/>
            <a:ext cx="1939171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86784" tIns="43392" rIns="86784" bIns="43392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4525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识   别</a:t>
            </a:r>
            <a:endParaRPr lang="zh-CN" altLang="en-US" sz="452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088310" y="3232150"/>
            <a:ext cx="2441919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6784" tIns="43392" rIns="86784" bIns="43392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4525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Identify</a:t>
            </a:r>
            <a:endParaRPr lang="en-US" altLang="zh-CN" sz="452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612775"/>
            <a:ext cx="6413500" cy="442913"/>
          </a:xfrm>
          <a:prstGeom prst="rect">
            <a:avLst/>
          </a:prstGeom>
        </p:spPr>
        <p:txBody>
          <a:bodyPr/>
          <a:lstStyle/>
          <a:p>
            <a:r>
              <a:rPr lang="en-US" altLang="zh-CN" sz="264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DFSS</a:t>
            </a:r>
            <a:r>
              <a:rPr lang="zh-CN" altLang="en-US" sz="264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项目注册表</a:t>
            </a:r>
            <a:endParaRPr lang="zh-CN" altLang="en-US" sz="264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2154635" y="1449670"/>
            <a:ext cx="2205531" cy="2154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GB" sz="1130" dirty="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  <a:t>蒋涛</a:t>
            </a:r>
            <a:endParaRPr lang="en-GB" altLang="zh-CN"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1189526" y="1449670"/>
            <a:ext cx="1034257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绿带姓名：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48" name="Rectangle 5"/>
          <p:cNvSpPr>
            <a:spLocks noChangeArrowheads="1"/>
          </p:cNvSpPr>
          <p:nvPr/>
        </p:nvSpPr>
        <p:spPr bwMode="auto">
          <a:xfrm>
            <a:off x="2154635" y="1736955"/>
            <a:ext cx="2205531" cy="2154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en-GB" alt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2025年03月</a:t>
            </a:r>
            <a:endParaRPr lang="en-GB" altLang="zh-CN"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851088" y="1736954"/>
            <a:ext cx="1374094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项目开始日期：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2154635" y="2024239"/>
            <a:ext cx="2205531" cy="2154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en-US" altLang="en-GB" sz="1130" dirty="0">
                <a:ea typeface="微软雅黑" panose="020B0703020204020201" pitchFamily="34" charset="-122"/>
                <a:cs typeface="Arial" panose="020B0604020202090204" pitchFamily="34" charset="0"/>
              </a:rPr>
              <a:t>2025</a:t>
            </a:r>
            <a:r>
              <a:rPr lang="zh-CN" altLang="en-US" sz="1130" dirty="0">
                <a:ea typeface="微软雅黑" panose="020B0703020204020201" pitchFamily="34" charset="-122"/>
                <a:cs typeface="Arial" panose="020B0604020202090204" pitchFamily="34" charset="0"/>
              </a:rPr>
              <a:t>年</a:t>
            </a:r>
            <a:r>
              <a:rPr lang="en-US" alt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9</a:t>
            </a:r>
            <a:r>
              <a:rPr lang="zh-CN" altLang="en-US" sz="1130" dirty="0">
                <a:ea typeface="微软雅黑" panose="020B0703020204020201" pitchFamily="34" charset="-122"/>
                <a:cs typeface="Arial" panose="020B0604020202090204" pitchFamily="34" charset="0"/>
              </a:rPr>
              <a:t>月</a:t>
            </a:r>
            <a:endParaRPr lang="zh-CN" altLang="en-US"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1" name="Text Box 8"/>
          <p:cNvSpPr txBox="1">
            <a:spLocks noChangeArrowheads="1"/>
          </p:cNvSpPr>
          <p:nvPr/>
        </p:nvSpPr>
        <p:spPr bwMode="auto">
          <a:xfrm>
            <a:off x="851088" y="2024239"/>
            <a:ext cx="1374094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项目完成日期：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5540973" y="1453927"/>
            <a:ext cx="2646638" cy="2112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zh-CN" altLang="en-GB" sz="1130" dirty="0">
                <a:ea typeface="微软雅黑" panose="020B0703020204020201" pitchFamily="34" charset="-122"/>
                <a:cs typeface="Arial" panose="020B0604020202090204" pitchFamily="34" charset="0"/>
              </a:rPr>
              <a:t>王钰</a:t>
            </a:r>
            <a:r>
              <a:rPr lang="zh-CN" altLang="en-GB" sz="1130" dirty="0">
                <a:ea typeface="微软雅黑" panose="020B0703020204020201" pitchFamily="34" charset="-122"/>
                <a:cs typeface="Arial" panose="020B0604020202090204" pitchFamily="34" charset="0"/>
              </a:rPr>
              <a:t>森</a:t>
            </a:r>
            <a:endParaRPr lang="zh-CN" altLang="en-GB"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4423268" y="1449670"/>
            <a:ext cx="1204176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项目发起人：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4" name="Rectangle 11"/>
          <p:cNvSpPr>
            <a:spLocks noChangeArrowheads="1"/>
          </p:cNvSpPr>
          <p:nvPr/>
        </p:nvSpPr>
        <p:spPr bwMode="auto">
          <a:xfrm>
            <a:off x="5540973" y="1713522"/>
            <a:ext cx="2646638" cy="23889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en-GB" alt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多场景扫描增强架构</a:t>
            </a:r>
            <a:endParaRPr lang="en-GB" altLang="zh-CN"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5" name="Text Box 12"/>
          <p:cNvSpPr txBox="1">
            <a:spLocks noChangeArrowheads="1"/>
          </p:cNvSpPr>
          <p:nvPr/>
        </p:nvSpPr>
        <p:spPr bwMode="auto">
          <a:xfrm>
            <a:off x="4592488" y="1736954"/>
            <a:ext cx="1034257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项目名字：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6" name="Rectangle 13"/>
          <p:cNvSpPr>
            <a:spLocks noChangeArrowheads="1"/>
          </p:cNvSpPr>
          <p:nvPr/>
        </p:nvSpPr>
        <p:spPr bwMode="auto">
          <a:xfrm>
            <a:off x="5540972" y="2004268"/>
            <a:ext cx="2646638" cy="2354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US" sz="1130" dirty="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  <a:t>移动服务</a:t>
            </a:r>
            <a:endParaRPr lang="zh-CN" altLang="en-US" sz="1130" dirty="0">
              <a:ea typeface="微软雅黑" panose="020B0703020204020201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7" name="Text Box 14"/>
          <p:cNvSpPr txBox="1">
            <a:spLocks noChangeArrowheads="1"/>
          </p:cNvSpPr>
          <p:nvPr/>
        </p:nvSpPr>
        <p:spPr bwMode="auto">
          <a:xfrm>
            <a:off x="4761708" y="2024239"/>
            <a:ext cx="694421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部门：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8" name="Rectangle 15"/>
          <p:cNvSpPr>
            <a:spLocks noChangeArrowheads="1"/>
          </p:cNvSpPr>
          <p:nvPr/>
        </p:nvSpPr>
        <p:spPr bwMode="auto">
          <a:xfrm>
            <a:off x="2154635" y="2323494"/>
            <a:ext cx="5386586" cy="8618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软件开发工程师：蒋涛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测试工程师：袁子昊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技术负责人：王钰</a:t>
            </a:r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森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59" name="Text Box 16"/>
          <p:cNvSpPr txBox="1">
            <a:spLocks noChangeArrowheads="1"/>
          </p:cNvSpPr>
          <p:nvPr/>
        </p:nvSpPr>
        <p:spPr bwMode="auto">
          <a:xfrm>
            <a:off x="1189526" y="2371374"/>
            <a:ext cx="1034257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项目组员：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0" name="Rectangle 18"/>
          <p:cNvSpPr>
            <a:spLocks noChangeArrowheads="1"/>
          </p:cNvSpPr>
          <p:nvPr/>
        </p:nvSpPr>
        <p:spPr bwMode="auto">
          <a:xfrm>
            <a:off x="2154635" y="3249688"/>
            <a:ext cx="5386586" cy="5027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国内：引力域</a:t>
            </a:r>
            <a:r>
              <a:rPr lang="en-US" altLang="zh-CN" sz="1200">
                <a:ea typeface="微软雅黑" panose="020B0703020204020201" pitchFamily="34" charset="-122"/>
                <a:cs typeface="Arial" panose="020B0604020202090204" pitchFamily="34" charset="0"/>
              </a:rPr>
              <a:t>APP</a:t>
            </a:r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、启源</a:t>
            </a:r>
            <a:r>
              <a:rPr lang="en-US" altLang="zh-CN" sz="1200">
                <a:ea typeface="微软雅黑" panose="020B0703020204020201" pitchFamily="34" charset="-122"/>
                <a:cs typeface="Arial" panose="020B0604020202090204" pitchFamily="34" charset="0"/>
              </a:rPr>
              <a:t>APP</a:t>
            </a:r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、长安凯程</a:t>
            </a:r>
            <a:r>
              <a:rPr lang="en-US" altLang="zh-CN" sz="1200">
                <a:ea typeface="微软雅黑" panose="020B0703020204020201" pitchFamily="34" charset="-122"/>
                <a:cs typeface="Arial" panose="020B0604020202090204" pitchFamily="34" charset="0"/>
              </a:rPr>
              <a:t>APP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国外：DEEPAL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1" name="Text Box 19"/>
          <p:cNvSpPr txBox="1">
            <a:spLocks noChangeArrowheads="1"/>
          </p:cNvSpPr>
          <p:nvPr/>
        </p:nvSpPr>
        <p:spPr bwMode="auto">
          <a:xfrm>
            <a:off x="1020306" y="3170385"/>
            <a:ext cx="1204176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利益相关方：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2" name="Rectangle 21"/>
          <p:cNvSpPr>
            <a:spLocks noChangeArrowheads="1"/>
          </p:cNvSpPr>
          <p:nvPr/>
        </p:nvSpPr>
        <p:spPr bwMode="auto">
          <a:xfrm>
            <a:off x="2156131" y="3813782"/>
            <a:ext cx="5386586" cy="3591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王钰森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3" name="Text Box 22"/>
          <p:cNvSpPr txBox="1">
            <a:spLocks noChangeArrowheads="1"/>
          </p:cNvSpPr>
          <p:nvPr/>
        </p:nvSpPr>
        <p:spPr bwMode="auto">
          <a:xfrm>
            <a:off x="740365" y="4410797"/>
            <a:ext cx="1346844" cy="4403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1130" b="1" dirty="0">
                <a:ea typeface="微软雅黑" panose="020B0703020204020201" pitchFamily="34" charset="-122"/>
                <a:cs typeface="Arial" panose="020B0604020202090204" pitchFamily="34" charset="0"/>
              </a:rPr>
              <a:t>DFSS</a:t>
            </a:r>
            <a:r>
              <a:rPr lang="zh-CN" altLang="en-US" sz="1130" b="1" dirty="0">
                <a:ea typeface="微软雅黑" panose="020B0703020204020201" pitchFamily="34" charset="-122"/>
                <a:cs typeface="Arial" panose="020B0604020202090204" pitchFamily="34" charset="0"/>
              </a:rPr>
              <a:t>项目启动所在</a:t>
            </a:r>
            <a:endParaRPr lang="en-US" altLang="zh-CN" sz="1130" b="1" dirty="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r"/>
            <a:r>
              <a:rPr lang="zh-CN" altLang="en-US" sz="1130" b="1" dirty="0">
                <a:ea typeface="微软雅黑" panose="020B0703020204020201" pitchFamily="34" charset="-122"/>
                <a:cs typeface="Arial" panose="020B0604020202090204" pitchFamily="34" charset="0"/>
              </a:rPr>
              <a:t>新车开发阶段</a:t>
            </a:r>
            <a:endParaRPr lang="en-US" altLang="zh-TW" sz="113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4" name="Line 23"/>
          <p:cNvSpPr>
            <a:spLocks noChangeShapeType="1"/>
          </p:cNvSpPr>
          <p:nvPr/>
        </p:nvSpPr>
        <p:spPr bwMode="auto">
          <a:xfrm>
            <a:off x="502748" y="4298575"/>
            <a:ext cx="7804188" cy="0"/>
          </a:xfrm>
          <a:prstGeom prst="line">
            <a:avLst/>
          </a:prstGeom>
          <a:noFill/>
          <a:ln w="76200">
            <a:solidFill>
              <a:srgbClr val="00B050"/>
            </a:solidFill>
            <a:round/>
          </a:ln>
        </p:spPr>
        <p:txBody>
          <a:bodyPr/>
          <a:lstStyle/>
          <a:p>
            <a:endParaRPr lang="zh-CN" altLang="en-US" sz="1695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2115732" y="4455684"/>
            <a:ext cx="526688" cy="2738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lang="en-GB" altLang="zh-CN" sz="1695" dirty="0">
              <a:solidFill>
                <a:srgbClr val="0000FF"/>
              </a:solidFill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7" name="Text Box 26"/>
          <p:cNvSpPr txBox="1">
            <a:spLocks noChangeArrowheads="1"/>
          </p:cNvSpPr>
          <p:nvPr/>
        </p:nvSpPr>
        <p:spPr bwMode="auto">
          <a:xfrm>
            <a:off x="2977586" y="5099500"/>
            <a:ext cx="3010761" cy="237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类型</a:t>
            </a:r>
            <a:r>
              <a:rPr lang="en-US" altLang="zh-CN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1</a:t>
            </a:r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：开拓新市场，开发一款新产品打开一个新市场</a:t>
            </a:r>
            <a:endParaRPr lang="en-US" altLang="zh-TW" sz="945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8" name="Text Box 27"/>
          <p:cNvSpPr txBox="1">
            <a:spLocks noChangeArrowheads="1"/>
          </p:cNvSpPr>
          <p:nvPr/>
        </p:nvSpPr>
        <p:spPr bwMode="auto">
          <a:xfrm>
            <a:off x="2977585" y="5287613"/>
            <a:ext cx="2770310" cy="237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类型</a:t>
            </a:r>
            <a:r>
              <a:rPr lang="en-US" altLang="zh-CN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2</a:t>
            </a:r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：获取新市场的市场份额，现有产品的改款</a:t>
            </a:r>
            <a:endParaRPr lang="en-US" altLang="zh-TW" sz="945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9" name="Text Box 28"/>
          <p:cNvSpPr txBox="1">
            <a:spLocks noChangeArrowheads="1"/>
          </p:cNvSpPr>
          <p:nvPr/>
        </p:nvSpPr>
        <p:spPr bwMode="auto">
          <a:xfrm>
            <a:off x="2977585" y="5458188"/>
            <a:ext cx="3972562" cy="237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类型</a:t>
            </a:r>
            <a:r>
              <a:rPr lang="en-US" altLang="zh-CN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3</a:t>
            </a:r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：提升市场利润率和获得销售增长，开发一款新产品进入现有市场</a:t>
            </a:r>
            <a:endParaRPr lang="en-US" altLang="zh-TW" sz="945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2977586" y="5639237"/>
            <a:ext cx="2048959" cy="237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类型</a:t>
            </a:r>
            <a:r>
              <a:rPr lang="en-US" altLang="zh-CN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4</a:t>
            </a:r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：降低成本，现有产品的改款</a:t>
            </a:r>
            <a:endParaRPr lang="en-US" altLang="zh-TW" sz="945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71" name="Text Box 30"/>
          <p:cNvSpPr txBox="1">
            <a:spLocks noChangeArrowheads="1"/>
          </p:cNvSpPr>
          <p:nvPr/>
        </p:nvSpPr>
        <p:spPr bwMode="auto">
          <a:xfrm>
            <a:off x="2977585" y="5823279"/>
            <a:ext cx="2529860" cy="237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类型</a:t>
            </a:r>
            <a:r>
              <a:rPr lang="en-US" altLang="zh-CN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5</a:t>
            </a:r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：降低因质量差引起的返工和三包成本</a:t>
            </a:r>
            <a:endParaRPr lang="en-US" altLang="zh-TW" sz="945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72" name="Text Box 31"/>
          <p:cNvSpPr txBox="1">
            <a:spLocks noChangeArrowheads="1"/>
          </p:cNvSpPr>
          <p:nvPr/>
        </p:nvSpPr>
        <p:spPr bwMode="auto">
          <a:xfrm>
            <a:off x="2977585" y="6033175"/>
            <a:ext cx="1146468" cy="237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945" b="1" dirty="0">
                <a:ea typeface="微软雅黑" panose="020B0703020204020201" pitchFamily="34" charset="-122"/>
                <a:cs typeface="Arial" panose="020B0604020202090204" pitchFamily="34" charset="0"/>
              </a:rPr>
              <a:t>其它：请具体描述</a:t>
            </a:r>
            <a:endParaRPr lang="en-US" altLang="zh-TW" sz="945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73" name="Text Box 32"/>
          <p:cNvSpPr txBox="1">
            <a:spLocks noChangeArrowheads="1"/>
          </p:cNvSpPr>
          <p:nvPr/>
        </p:nvSpPr>
        <p:spPr bwMode="auto">
          <a:xfrm>
            <a:off x="1762613" y="5072150"/>
            <a:ext cx="906017" cy="2663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130" b="1" dirty="0">
                <a:ea typeface="微软雅黑" panose="020B0703020204020201" pitchFamily="34" charset="-122"/>
                <a:cs typeface="Arial" panose="020B0604020202090204" pitchFamily="34" charset="0"/>
              </a:rPr>
              <a:t>项目类型：</a:t>
            </a:r>
            <a:endParaRPr lang="en-US" altLang="zh-TW" sz="113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83" name="Text Box 42"/>
          <p:cNvSpPr txBox="1">
            <a:spLocks noChangeArrowheads="1"/>
          </p:cNvSpPr>
          <p:nvPr/>
        </p:nvSpPr>
        <p:spPr bwMode="auto">
          <a:xfrm>
            <a:off x="605670" y="3852686"/>
            <a:ext cx="1604006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工程技术专家：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84" name="Line 43"/>
          <p:cNvSpPr>
            <a:spLocks noChangeShapeType="1"/>
          </p:cNvSpPr>
          <p:nvPr/>
        </p:nvSpPr>
        <p:spPr bwMode="auto">
          <a:xfrm>
            <a:off x="538659" y="1377849"/>
            <a:ext cx="7804188" cy="0"/>
          </a:xfrm>
          <a:prstGeom prst="line">
            <a:avLst/>
          </a:prstGeom>
          <a:noFill/>
          <a:ln w="76200">
            <a:solidFill>
              <a:srgbClr val="00B050"/>
            </a:solidFill>
            <a:round/>
          </a:ln>
        </p:spPr>
        <p:txBody>
          <a:bodyPr/>
          <a:lstStyle/>
          <a:p>
            <a:endParaRPr lang="zh-CN" altLang="en-US" sz="1695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01025" y="4382153"/>
            <a:ext cx="2413794" cy="685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85561" y="5124071"/>
          <a:ext cx="430927" cy="1172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0927"/>
              </a:tblGrid>
              <a:tr h="186735">
                <a:tc>
                  <a:txBody>
                    <a:bodyPr/>
                    <a:p>
                      <a:endParaRPr lang="zh-CN" altLang="en-US" sz="700" dirty="0"/>
                    </a:p>
                  </a:txBody>
                  <a:tcPr marL="86185" marR="86185" marT="43093" marB="4309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735">
                <a:tc>
                  <a:txBody>
                    <a:bodyPr/>
                    <a:p>
                      <a:endParaRPr lang="zh-CN" altLang="en-US" sz="700" dirty="0"/>
                    </a:p>
                  </a:txBody>
                  <a:tcPr marL="86185" marR="86185" marT="43093" marB="4309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735">
                <a:tc>
                  <a:txBody>
                    <a:bodyPr/>
                    <a:p>
                      <a:endParaRPr lang="zh-CN" altLang="en-US" sz="700" dirty="0"/>
                    </a:p>
                  </a:txBody>
                  <a:tcPr marL="86185" marR="86185" marT="43093" marB="4309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735">
                <a:tc>
                  <a:txBody>
                    <a:bodyPr/>
                    <a:p>
                      <a:r>
                        <a:rPr lang="zh-CN" altLang="en-US" sz="700" dirty="0">
                          <a:sym typeface="+mn-ea"/>
                        </a:rPr>
                        <a:t>√</a:t>
                      </a:r>
                      <a:endParaRPr lang="zh-CN" altLang="en-US" sz="700" dirty="0"/>
                    </a:p>
                  </a:txBody>
                  <a:tcPr marL="86185" marR="86185" marT="43093" marB="4309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735">
                <a:tc>
                  <a:txBody>
                    <a:bodyPr/>
                    <a:p>
                      <a:endParaRPr lang="zh-CN" altLang="en-US" sz="700" dirty="0"/>
                    </a:p>
                  </a:txBody>
                  <a:tcPr marL="86185" marR="86185" marT="43093" marB="4309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735">
                <a:tc>
                  <a:txBody>
                    <a:bodyPr/>
                    <a:p>
                      <a:pPr algn="ctr"/>
                      <a:endParaRPr lang="zh-CN" altLang="en-US" sz="700" dirty="0"/>
                    </a:p>
                  </a:txBody>
                  <a:tcPr marL="86185" marR="86185" marT="43093" marB="4309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329815" y="3937635"/>
            <a:ext cx="2872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2118724" y="1448586"/>
            <a:ext cx="6107625" cy="15920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1695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080952" y="1469534"/>
            <a:ext cx="1034257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业务背景：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2118724" y="1469534"/>
            <a:ext cx="6107625" cy="7861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海外</a:t>
            </a:r>
            <a:r>
              <a:rPr lang="en-US" alt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iOS DEEPAL</a:t>
            </a:r>
            <a:r>
              <a:rPr lang="zh-CN" altLang="en-US" sz="1130" dirty="0">
                <a:ea typeface="微软雅黑" panose="020B0703020204020201" pitchFamily="34" charset="-122"/>
                <a:cs typeface="Arial" panose="020B0604020202090204" pitchFamily="34" charset="0"/>
              </a:rPr>
              <a:t>用户反馈在车库扫描二维码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失败问题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。</a:t>
            </a:r>
            <a:endParaRPr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一、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客户反馈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：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在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车库光线不好的情况下，扫码车机二维码，需要反复尝试多次，体验很差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。</a:t>
            </a:r>
            <a:endParaRPr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二、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测试数据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：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在强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、弱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光场景时，扫码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成功率低，平均</a:t>
            </a:r>
            <a:r>
              <a:rPr lang="en-US" alt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2-3</a:t>
            </a:r>
            <a:r>
              <a:rPr lang="zh-CN" altLang="en-US" sz="1130" dirty="0">
                <a:ea typeface="微软雅黑" panose="020B0703020204020201" pitchFamily="34" charset="-122"/>
                <a:cs typeface="Arial" panose="020B0604020202090204" pitchFamily="34" charset="0"/>
              </a:rPr>
              <a:t>次才成功一次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。</a:t>
            </a:r>
            <a:endParaRPr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三、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现状痛点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：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现有扫码方案依赖系统原生能力，</a:t>
            </a:r>
            <a:r>
              <a:rPr lang="zh-CN" sz="1130" dirty="0">
                <a:ea typeface="微软雅黑" panose="020B0703020204020201" pitchFamily="34" charset="-122"/>
                <a:cs typeface="Arial" panose="020B0604020202090204" pitchFamily="34" charset="0"/>
              </a:rPr>
              <a:t>识别率差</a:t>
            </a:r>
            <a:r>
              <a:rPr sz="1130" dirty="0">
                <a:ea typeface="微软雅黑" panose="020B0703020204020201" pitchFamily="34" charset="-122"/>
                <a:cs typeface="Arial" panose="020B0604020202090204" pitchFamily="34" charset="0"/>
              </a:rPr>
              <a:t>。</a:t>
            </a:r>
            <a:endParaRPr lang="zh-CN" altLang="en-US" sz="1130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993321" y="5618702"/>
            <a:ext cx="1114408" cy="2663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TW" sz="1130" b="1" dirty="0">
                <a:ea typeface="微软雅黑" panose="020B0703020204020201" pitchFamily="34" charset="-122"/>
                <a:cs typeface="Arial" panose="020B0604020202090204" pitchFamily="34" charset="0"/>
              </a:rPr>
              <a:t>GB / BB </a:t>
            </a:r>
            <a:r>
              <a:rPr lang="zh-CN" altLang="en-US" sz="1130" b="1" dirty="0">
                <a:ea typeface="微软雅黑" panose="020B0703020204020201" pitchFamily="34" charset="-122"/>
                <a:cs typeface="Arial" panose="020B0604020202090204" pitchFamily="34" charset="0"/>
              </a:rPr>
              <a:t>签字：</a:t>
            </a:r>
            <a:endParaRPr lang="en-US" altLang="zh-TW" sz="113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75" name="Line 6"/>
          <p:cNvSpPr>
            <a:spLocks noChangeShapeType="1"/>
          </p:cNvSpPr>
          <p:nvPr/>
        </p:nvSpPr>
        <p:spPr bwMode="auto">
          <a:xfrm>
            <a:off x="502748" y="5422689"/>
            <a:ext cx="7804188" cy="0"/>
          </a:xfrm>
          <a:prstGeom prst="line">
            <a:avLst/>
          </a:prstGeom>
          <a:noFill/>
          <a:ln w="76200">
            <a:solidFill>
              <a:srgbClr val="00B050"/>
            </a:solidFill>
            <a:round/>
          </a:ln>
        </p:spPr>
        <p:txBody>
          <a:bodyPr/>
          <a:lstStyle/>
          <a:p>
            <a:endParaRPr lang="zh-CN" altLang="en-US" sz="1695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76" name="Rectangle 7"/>
          <p:cNvSpPr>
            <a:spLocks noChangeArrowheads="1"/>
          </p:cNvSpPr>
          <p:nvPr/>
        </p:nvSpPr>
        <p:spPr bwMode="auto">
          <a:xfrm>
            <a:off x="2115732" y="5519948"/>
            <a:ext cx="2202515" cy="4294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sz="1695">
                <a:ea typeface="微软雅黑" panose="020B0703020204020201" pitchFamily="34" charset="-122"/>
                <a:cs typeface="Arial" panose="020B0604020202090204" pitchFamily="34" charset="0"/>
              </a:rPr>
              <a:t>蒋涛</a:t>
            </a:r>
            <a:endParaRPr lang="zh-CN" altLang="en-US" sz="1695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86" name="Rectangle 8"/>
          <p:cNvSpPr>
            <a:spLocks noChangeArrowheads="1"/>
          </p:cNvSpPr>
          <p:nvPr/>
        </p:nvSpPr>
        <p:spPr bwMode="auto">
          <a:xfrm>
            <a:off x="2118724" y="3148359"/>
            <a:ext cx="6107625" cy="6463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sz="1200">
                <a:ea typeface="微软雅黑" panose="020B0703020204020201" pitchFamily="34" charset="-122"/>
                <a:cs typeface="Arial" panose="020B0604020202090204" pitchFamily="34" charset="0"/>
              </a:rPr>
              <a:t>优化</a:t>
            </a:r>
            <a:r>
              <a:rPr sz="1200">
                <a:ea typeface="微软雅黑" panose="020B0703020204020201" pitchFamily="34" charset="-122"/>
                <a:cs typeface="Arial" panose="020B0604020202090204" pitchFamily="34" charset="0"/>
              </a:rPr>
              <a:t>强光（≥1</a:t>
            </a:r>
            <a:r>
              <a:rPr lang="en-US" sz="1200">
                <a:ea typeface="微软雅黑" panose="020B0703020204020201" pitchFamily="34" charset="-122"/>
                <a:cs typeface="Arial" panose="020B0604020202090204" pitchFamily="34" charset="0"/>
              </a:rPr>
              <a:t>000</a:t>
            </a:r>
            <a:r>
              <a:rPr sz="1200">
                <a:ea typeface="微软雅黑" panose="020B0703020204020201" pitchFamily="34" charset="-122"/>
                <a:cs typeface="Arial" panose="020B0604020202090204" pitchFamily="34" charset="0"/>
              </a:rPr>
              <a:t>nit）</a:t>
            </a:r>
            <a:r>
              <a:rPr lang="zh-CN" sz="1200">
                <a:ea typeface="微软雅黑" panose="020B0703020204020201" pitchFamily="34" charset="-122"/>
                <a:cs typeface="Arial" panose="020B0604020202090204" pitchFamily="34" charset="0"/>
              </a:rPr>
              <a:t>、</a:t>
            </a:r>
            <a:r>
              <a:rPr sz="120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  <a:t>弱光（≤50</a:t>
            </a:r>
            <a:r>
              <a:rPr lang="en-US" sz="120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  <a:t>nit</a:t>
            </a:r>
            <a:r>
              <a:rPr sz="120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  <a:t>）</a:t>
            </a:r>
            <a:r>
              <a:rPr lang="zh-CN" sz="120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  <a:t>下扫码识别能力；</a:t>
            </a:r>
            <a:br>
              <a:rPr lang="zh-CN" sz="120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</a:br>
            <a:r>
              <a:rPr lang="zh-CN" sz="1200">
                <a:ea typeface="微软雅黑" panose="020B0703020204020201" pitchFamily="34" charset="-122"/>
                <a:cs typeface="Arial" panose="020B0604020202090204" pitchFamily="34" charset="0"/>
                <a:sym typeface="+mn-ea"/>
              </a:rPr>
              <a:t>自研智能扫码架构，扫码成功率</a:t>
            </a:r>
            <a:r>
              <a:rPr lang="en-US" sz="1200">
                <a:ea typeface="微软雅黑" panose="020B0703020204020201" pitchFamily="34" charset="-122"/>
                <a:cs typeface="Arial" panose="020B0604020202090204" pitchFamily="34" charset="0"/>
              </a:rPr>
              <a:t> </a:t>
            </a:r>
            <a:r>
              <a:rPr sz="1200">
                <a:ea typeface="微软雅黑" panose="020B0703020204020201" pitchFamily="34" charset="-122"/>
                <a:cs typeface="Arial" panose="020B0604020202090204" pitchFamily="34" charset="0"/>
              </a:rPr>
              <a:t>≥95%</a:t>
            </a:r>
            <a:r>
              <a:rPr lang="zh-CN" sz="1200">
                <a:ea typeface="微软雅黑" panose="020B0703020204020201" pitchFamily="34" charset="-122"/>
                <a:cs typeface="Arial" panose="020B0604020202090204" pitchFamily="34" charset="0"/>
              </a:rPr>
              <a:t>。</a:t>
            </a:r>
            <a:endParaRPr lang="zh-CN" sz="120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87" name="Text Box 9"/>
          <p:cNvSpPr txBox="1">
            <a:spLocks noChangeArrowheads="1"/>
          </p:cNvSpPr>
          <p:nvPr/>
        </p:nvSpPr>
        <p:spPr bwMode="auto">
          <a:xfrm>
            <a:off x="1080952" y="3169306"/>
            <a:ext cx="1034257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项目目标：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91" name="Line 11"/>
          <p:cNvSpPr>
            <a:spLocks noChangeShapeType="1"/>
          </p:cNvSpPr>
          <p:nvPr/>
        </p:nvSpPr>
        <p:spPr bwMode="auto">
          <a:xfrm>
            <a:off x="538659" y="1364795"/>
            <a:ext cx="7804188" cy="0"/>
          </a:xfrm>
          <a:prstGeom prst="line">
            <a:avLst/>
          </a:prstGeom>
          <a:noFill/>
          <a:ln w="76200">
            <a:solidFill>
              <a:srgbClr val="00B050"/>
            </a:solidFill>
            <a:round/>
          </a:ln>
        </p:spPr>
        <p:txBody>
          <a:bodyPr/>
          <a:lstStyle/>
          <a:p>
            <a:endParaRPr lang="zh-CN" altLang="en-US" sz="1695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92" name="Rectangle 12"/>
          <p:cNvSpPr>
            <a:spLocks noChangeArrowheads="1"/>
          </p:cNvSpPr>
          <p:nvPr/>
        </p:nvSpPr>
        <p:spPr bwMode="auto">
          <a:xfrm>
            <a:off x="2118724" y="3944377"/>
            <a:ext cx="6107625" cy="637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自研动态光适应算法，支持强光抑制与弱光增强；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扫码模块独立化，支持</a:t>
            </a:r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独立集成；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支持线上扫码数据实时</a:t>
            </a:r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统计。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93" name="Text Box 13"/>
          <p:cNvSpPr txBox="1">
            <a:spLocks noChangeArrowheads="1"/>
          </p:cNvSpPr>
          <p:nvPr/>
        </p:nvSpPr>
        <p:spPr bwMode="auto">
          <a:xfrm>
            <a:off x="742514" y="3965324"/>
            <a:ext cx="1374094" cy="295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主要研究成果：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95" name="Rectangle 15"/>
          <p:cNvSpPr>
            <a:spLocks noChangeArrowheads="1"/>
          </p:cNvSpPr>
          <p:nvPr/>
        </p:nvSpPr>
        <p:spPr bwMode="auto">
          <a:xfrm>
            <a:off x="2118724" y="4719447"/>
            <a:ext cx="6107625" cy="59551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约束：需兼容现有业务逻辑，避免引入新的兼容性问题。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风险：项目周期紧张，算法优化与测试可能占用大量时间，影响整体进度。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pPr algn="l"/>
            <a:r>
              <a:rPr lang="zh-CN" altLang="en-US" sz="1200">
                <a:ea typeface="微软雅黑" panose="020B0703020204020201" pitchFamily="34" charset="-122"/>
                <a:cs typeface="Arial" panose="020B0604020202090204" pitchFamily="34" charset="0"/>
              </a:rPr>
              <a:t>障碍：极端光照场景的模拟测试设备不足，可能导致测试覆盖率不达标。</a:t>
            </a:r>
            <a:endParaRPr lang="zh-CN" altLang="en-US" sz="120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96" name="Text Box 16"/>
          <p:cNvSpPr txBox="1">
            <a:spLocks noChangeArrowheads="1"/>
          </p:cNvSpPr>
          <p:nvPr/>
        </p:nvSpPr>
        <p:spPr bwMode="auto">
          <a:xfrm>
            <a:off x="911733" y="4767327"/>
            <a:ext cx="1204176" cy="4985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主要约束、</a:t>
            </a:r>
            <a:endParaRPr lang="en-US" altLang="zh-CN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  <a:p>
            <a:r>
              <a:rPr lang="zh-CN" altLang="en-US" sz="1320" b="1" dirty="0">
                <a:ea typeface="微软雅黑" panose="020B0703020204020201" pitchFamily="34" charset="-122"/>
                <a:cs typeface="Arial" panose="020B0604020202090204" pitchFamily="34" charset="0"/>
              </a:rPr>
              <a:t>风险、障碍：</a:t>
            </a:r>
            <a:endParaRPr lang="en-US" altLang="zh-TW" sz="132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98" name="Text Box 18"/>
          <p:cNvSpPr txBox="1">
            <a:spLocks noChangeArrowheads="1"/>
          </p:cNvSpPr>
          <p:nvPr/>
        </p:nvSpPr>
        <p:spPr bwMode="auto">
          <a:xfrm>
            <a:off x="4842941" y="5582791"/>
            <a:ext cx="1050288" cy="2663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130" b="1" dirty="0">
                <a:ea typeface="微软雅黑" panose="020B0703020204020201" pitchFamily="34" charset="-122"/>
                <a:cs typeface="Arial" panose="020B0604020202090204" pitchFamily="34" charset="0"/>
              </a:rPr>
              <a:t>发起人签字：</a:t>
            </a:r>
            <a:endParaRPr lang="en-US" altLang="zh-TW" sz="1130" b="1" dirty="0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99" name="Rectangle 19"/>
          <p:cNvSpPr>
            <a:spLocks noChangeArrowheads="1"/>
          </p:cNvSpPr>
          <p:nvPr/>
        </p:nvSpPr>
        <p:spPr bwMode="auto">
          <a:xfrm>
            <a:off x="5946193" y="5519948"/>
            <a:ext cx="2202515" cy="4294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r>
              <a:rPr lang="zh-CN" altLang="en-US" sz="1695">
                <a:ea typeface="微软雅黑" panose="020B0703020204020201" pitchFamily="34" charset="-122"/>
                <a:cs typeface="Arial" panose="020B0604020202090204" pitchFamily="34" charset="0"/>
              </a:rPr>
              <a:t>王钰</a:t>
            </a:r>
            <a:r>
              <a:rPr lang="zh-CN" altLang="en-US" sz="1695">
                <a:ea typeface="微软雅黑" panose="020B0703020204020201" pitchFamily="34" charset="-122"/>
                <a:cs typeface="Arial" panose="020B0604020202090204" pitchFamily="34" charset="0"/>
              </a:rPr>
              <a:t>森</a:t>
            </a:r>
            <a:endParaRPr lang="zh-CN" altLang="en-US" sz="1695"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  <p:sp>
        <p:nvSpPr>
          <p:cNvPr id="18" name="标题 1"/>
          <p:cNvSpPr txBox="1"/>
          <p:nvPr/>
        </p:nvSpPr>
        <p:spPr bwMode="auto">
          <a:xfrm>
            <a:off x="1" y="612842"/>
            <a:ext cx="6413030" cy="5607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4" tIns="45717" rIns="91434" bIns="45717" numCol="1" anchor="ctr" anchorCtr="0" compatLnSpc="1"/>
          <a:lstStyle/>
          <a:p>
            <a:pPr defTabSz="64516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40" b="1">
                <a:latin typeface="微软雅黑" panose="020B0703020204020201" pitchFamily="34" charset="-122"/>
                <a:ea typeface="微软雅黑" panose="020B0703020204020201" pitchFamily="34" charset="-122"/>
                <a:cs typeface="+mj-cs"/>
              </a:rPr>
              <a:t>DFSS</a:t>
            </a:r>
            <a:r>
              <a:rPr lang="zh-CN" altLang="en-US" sz="2640" b="1">
                <a:latin typeface="微软雅黑" panose="020B0703020204020201" pitchFamily="34" charset="-122"/>
                <a:ea typeface="微软雅黑" panose="020B0703020204020201" pitchFamily="34" charset="-122"/>
                <a:cs typeface="+mj-cs"/>
              </a:rPr>
              <a:t>项目注册表</a:t>
            </a:r>
            <a:endParaRPr lang="zh-CN" altLang="en-US" sz="2640" b="1" dirty="0">
              <a:latin typeface="微软雅黑" panose="020B0703020204020201" pitchFamily="34" charset="-122"/>
              <a:ea typeface="微软雅黑" panose="020B0703020204020201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988205" y="1149337"/>
            <a:ext cx="6644235" cy="4649414"/>
            <a:chOff x="658327" y="1093070"/>
            <a:chExt cx="7049327" cy="4932884"/>
          </a:xfrm>
        </p:grpSpPr>
        <p:cxnSp>
          <p:nvCxnSpPr>
            <p:cNvPr id="50" name="直接连接符 49"/>
            <p:cNvCxnSpPr>
              <a:endCxn id="78" idx="0"/>
            </p:cNvCxnSpPr>
            <p:nvPr/>
          </p:nvCxnSpPr>
          <p:spPr>
            <a:xfrm>
              <a:off x="4182990" y="1975881"/>
              <a:ext cx="0" cy="138944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组合 15"/>
            <p:cNvGrpSpPr/>
            <p:nvPr/>
          </p:nvGrpSpPr>
          <p:grpSpPr>
            <a:xfrm>
              <a:off x="658327" y="2813861"/>
              <a:ext cx="1872000" cy="816408"/>
              <a:chOff x="2797205" y="2227029"/>
              <a:chExt cx="1872000" cy="630373"/>
            </a:xfrm>
          </p:grpSpPr>
          <p:sp>
            <p:nvSpPr>
              <p:cNvPr id="86" name="圆角矩形 6"/>
              <p:cNvSpPr/>
              <p:nvPr/>
            </p:nvSpPr>
            <p:spPr>
              <a:xfrm>
                <a:off x="2797205" y="2227029"/>
                <a:ext cx="1872000" cy="303836"/>
              </a:xfrm>
              <a:prstGeom prst="roundRect">
                <a:avLst/>
              </a:prstGeom>
              <a:solidFill>
                <a:srgbClr val="0378B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lIns="73447" tIns="36724" rIns="73447" bIns="36724" rtlCol="0" anchor="ctr"/>
              <a:lstStyle/>
              <a:p>
                <a:pPr algn="ctr">
                  <a:defRPr/>
                </a:pPr>
                <a:r>
                  <a:rPr lang="zh-CN" altLang="en-US" sz="1130" b="1" kern="0" dirty="0">
                    <a:solidFill>
                      <a:sysClr val="window" lastClr="FFFFFF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部门负责人</a:t>
                </a:r>
                <a:endParaRPr lang="zh-CN" altLang="en-US" sz="1130" b="1" kern="0" dirty="0">
                  <a:solidFill>
                    <a:sysClr val="window" lastClr="FFFFFF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  <p:sp>
            <p:nvSpPr>
              <p:cNvPr id="87" name="圆角矩形 86"/>
              <p:cNvSpPr/>
              <p:nvPr/>
            </p:nvSpPr>
            <p:spPr>
              <a:xfrm>
                <a:off x="2797205" y="2554418"/>
                <a:ext cx="1872000" cy="302984"/>
              </a:xfrm>
              <a:prstGeom prst="roundRect">
                <a:avLst>
                  <a:gd name="adj" fmla="val 6387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239" tIns="40119" rIns="80239" bIns="40119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3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郝金隆</a:t>
                </a:r>
                <a:endParaRPr lang="zh-CN" altLang="en-US" sz="113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</p:grpSp>
        <p:grpSp>
          <p:nvGrpSpPr>
            <p:cNvPr id="52" name="组合 15"/>
            <p:cNvGrpSpPr/>
            <p:nvPr/>
          </p:nvGrpSpPr>
          <p:grpSpPr>
            <a:xfrm>
              <a:off x="5835654" y="2813861"/>
              <a:ext cx="1872000" cy="816408"/>
              <a:chOff x="2797205" y="2227029"/>
              <a:chExt cx="1872000" cy="630373"/>
            </a:xfrm>
          </p:grpSpPr>
          <p:sp>
            <p:nvSpPr>
              <p:cNvPr id="84" name="圆角矩形 6"/>
              <p:cNvSpPr/>
              <p:nvPr/>
            </p:nvSpPr>
            <p:spPr>
              <a:xfrm>
                <a:off x="2797205" y="2227029"/>
                <a:ext cx="1872000" cy="303836"/>
              </a:xfrm>
              <a:prstGeom prst="roundRect">
                <a:avLst/>
              </a:prstGeom>
              <a:solidFill>
                <a:srgbClr val="0378B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lIns="73447" tIns="36724" rIns="73447" bIns="36724" rtlCol="0" anchor="ctr"/>
              <a:lstStyle/>
              <a:p>
                <a:pPr algn="ctr">
                  <a:defRPr/>
                </a:pPr>
                <a:r>
                  <a:rPr lang="zh-CN" altLang="en-US" sz="1130" b="1" kern="0" dirty="0">
                    <a:solidFill>
                      <a:sysClr val="window" lastClr="FFFFFF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项目指导</a:t>
                </a:r>
                <a:r>
                  <a:rPr lang="en-US" altLang="zh-CN" sz="1130" b="1" kern="0" dirty="0">
                    <a:solidFill>
                      <a:sysClr val="window" lastClr="FFFFFF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/BB/MBB</a:t>
                </a:r>
                <a:endParaRPr lang="zh-CN" altLang="en-US" sz="1130" b="1" kern="0" dirty="0">
                  <a:solidFill>
                    <a:sysClr val="window" lastClr="FFFFFF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>
                <a:off x="2797205" y="2554418"/>
                <a:ext cx="1872000" cy="302984"/>
              </a:xfrm>
              <a:prstGeom prst="roundRect">
                <a:avLst>
                  <a:gd name="adj" fmla="val 6387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239" tIns="40119" rIns="80239" bIns="40119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3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毛</a:t>
                </a:r>
                <a:r>
                  <a:rPr lang="zh-CN" altLang="en-US" sz="113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朝龙</a:t>
                </a:r>
                <a:endParaRPr lang="zh-CN" altLang="en-US" sz="113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</p:grpSp>
        <p:grpSp>
          <p:nvGrpSpPr>
            <p:cNvPr id="53" name="组合 15"/>
            <p:cNvGrpSpPr/>
            <p:nvPr/>
          </p:nvGrpSpPr>
          <p:grpSpPr>
            <a:xfrm>
              <a:off x="3246990" y="2262398"/>
              <a:ext cx="1872000" cy="816408"/>
              <a:chOff x="2797205" y="2227029"/>
              <a:chExt cx="1872000" cy="630373"/>
            </a:xfrm>
          </p:grpSpPr>
          <p:sp>
            <p:nvSpPr>
              <p:cNvPr id="82" name="圆角矩形 6"/>
              <p:cNvSpPr/>
              <p:nvPr/>
            </p:nvSpPr>
            <p:spPr>
              <a:xfrm>
                <a:off x="2797205" y="2227029"/>
                <a:ext cx="1872000" cy="303836"/>
              </a:xfrm>
              <a:prstGeom prst="roundRect">
                <a:avLst/>
              </a:prstGeom>
              <a:solidFill>
                <a:srgbClr val="0378B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lIns="73447" tIns="36724" rIns="73447" bIns="36724" rtlCol="0" anchor="ctr"/>
              <a:lstStyle/>
              <a:p>
                <a:pPr algn="ctr">
                  <a:defRPr/>
                </a:pPr>
                <a:r>
                  <a:rPr lang="zh-CN" altLang="en-US" sz="1130" b="1" kern="0" dirty="0">
                    <a:solidFill>
                      <a:sysClr val="window" lastClr="FFFFFF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倡导者</a:t>
                </a:r>
                <a:endParaRPr lang="zh-CN" altLang="en-US" sz="1130" b="1" kern="0" dirty="0">
                  <a:solidFill>
                    <a:sysClr val="window" lastClr="FFFFFF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>
                <a:off x="2797205" y="2554418"/>
                <a:ext cx="1872000" cy="302984"/>
              </a:xfrm>
              <a:prstGeom prst="roundRect">
                <a:avLst>
                  <a:gd name="adj" fmla="val 6387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239" tIns="40119" rIns="80239" bIns="40119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3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王钰</a:t>
                </a:r>
                <a:r>
                  <a:rPr lang="zh-CN" altLang="en-US" sz="113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森</a:t>
                </a:r>
                <a:endParaRPr lang="zh-CN" altLang="en-US" sz="113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</p:grpSp>
        <p:grpSp>
          <p:nvGrpSpPr>
            <p:cNvPr id="54" name="组合 33"/>
            <p:cNvGrpSpPr/>
            <p:nvPr/>
          </p:nvGrpSpPr>
          <p:grpSpPr>
            <a:xfrm>
              <a:off x="2572107" y="1093070"/>
              <a:ext cx="3286165" cy="882811"/>
              <a:chOff x="6024666" y="4020221"/>
              <a:chExt cx="1909420" cy="681645"/>
            </a:xfrm>
          </p:grpSpPr>
          <p:sp>
            <p:nvSpPr>
              <p:cNvPr id="80" name="圆角矩形 20"/>
              <p:cNvSpPr/>
              <p:nvPr/>
            </p:nvSpPr>
            <p:spPr>
              <a:xfrm>
                <a:off x="6024666" y="4020221"/>
                <a:ext cx="1909420" cy="303836"/>
              </a:xfrm>
              <a:prstGeom prst="roundRect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lIns="73447" tIns="36724" rIns="73447" bIns="36724" rtlCol="0" anchor="ctr"/>
              <a:lstStyle/>
              <a:p>
                <a:pPr algn="ctr">
                  <a:defRPr/>
                </a:pPr>
                <a:r>
                  <a:rPr lang="zh-CN" altLang="en-US" sz="1320" b="1" kern="0" dirty="0">
                    <a:solidFill>
                      <a:sysClr val="window" lastClr="FFFFFF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项目名称</a:t>
                </a:r>
                <a:endParaRPr lang="zh-CN" altLang="en-US" sz="1320" b="1" kern="0" dirty="0">
                  <a:solidFill>
                    <a:sysClr val="window" lastClr="FFFFFF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  <p:sp>
            <p:nvSpPr>
              <p:cNvPr id="81" name="圆角矩形 21"/>
              <p:cNvSpPr/>
              <p:nvPr/>
            </p:nvSpPr>
            <p:spPr>
              <a:xfrm>
                <a:off x="6024666" y="4347610"/>
                <a:ext cx="1909420" cy="354256"/>
              </a:xfrm>
              <a:prstGeom prst="roundRect">
                <a:avLst>
                  <a:gd name="adj" fmla="val 6387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239" tIns="40119" rIns="80239" bIns="40119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32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多场景扫描增强架构</a:t>
                </a:r>
                <a:endParaRPr lang="en-US" altLang="zh-CN" sz="132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</p:grpSp>
        <p:grpSp>
          <p:nvGrpSpPr>
            <p:cNvPr id="55" name="组合 15"/>
            <p:cNvGrpSpPr/>
            <p:nvPr/>
          </p:nvGrpSpPr>
          <p:grpSpPr>
            <a:xfrm>
              <a:off x="3246990" y="3365324"/>
              <a:ext cx="1872000" cy="816408"/>
              <a:chOff x="2797205" y="2227029"/>
              <a:chExt cx="1872000" cy="630373"/>
            </a:xfrm>
          </p:grpSpPr>
          <p:sp>
            <p:nvSpPr>
              <p:cNvPr id="78" name="圆角矩形 6"/>
              <p:cNvSpPr/>
              <p:nvPr/>
            </p:nvSpPr>
            <p:spPr>
              <a:xfrm>
                <a:off x="2797205" y="2227029"/>
                <a:ext cx="1872000" cy="303836"/>
              </a:xfrm>
              <a:prstGeom prst="roundRect">
                <a:avLst/>
              </a:prstGeom>
              <a:solidFill>
                <a:srgbClr val="0378B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lIns="73447" tIns="36724" rIns="73447" bIns="36724" rtlCol="0" anchor="ctr"/>
              <a:lstStyle/>
              <a:p>
                <a:pPr algn="ctr">
                  <a:defRPr/>
                </a:pPr>
                <a:r>
                  <a:rPr lang="zh-CN" altLang="en-US" sz="1130" b="1" kern="0" dirty="0">
                    <a:solidFill>
                      <a:sysClr val="window" lastClr="FFFFFF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项目负责人</a:t>
                </a:r>
                <a:endParaRPr lang="zh-CN" altLang="en-US" sz="1130" b="1" kern="0" dirty="0">
                  <a:solidFill>
                    <a:sysClr val="window" lastClr="FFFFFF"/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2797205" y="2554418"/>
                <a:ext cx="1872000" cy="302984"/>
              </a:xfrm>
              <a:prstGeom prst="roundRect">
                <a:avLst>
                  <a:gd name="adj" fmla="val 6387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239" tIns="40119" rIns="80239" bIns="40119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13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rPr>
                  <a:t>蒋涛</a:t>
                </a:r>
                <a:endParaRPr lang="zh-CN" altLang="en-US" sz="113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703020204020201" pitchFamily="34" charset="-122"/>
                  <a:ea typeface="微软雅黑" panose="020B0703020204020201" pitchFamily="34" charset="-122"/>
                </a:endParaRPr>
              </a:p>
            </p:txBody>
          </p:sp>
        </p:grpSp>
        <p:grpSp>
          <p:nvGrpSpPr>
            <p:cNvPr id="56" name="组合 58"/>
            <p:cNvGrpSpPr/>
            <p:nvPr/>
          </p:nvGrpSpPr>
          <p:grpSpPr>
            <a:xfrm>
              <a:off x="856792" y="4445870"/>
              <a:ext cx="6837468" cy="1580084"/>
              <a:chOff x="1019791" y="4445870"/>
              <a:chExt cx="6837468" cy="1580084"/>
            </a:xfrm>
          </p:grpSpPr>
          <p:grpSp>
            <p:nvGrpSpPr>
              <p:cNvPr id="63" name="组合 14"/>
              <p:cNvGrpSpPr/>
              <p:nvPr/>
            </p:nvGrpSpPr>
            <p:grpSpPr>
              <a:xfrm>
                <a:off x="1019791" y="4445871"/>
                <a:ext cx="1260000" cy="1580083"/>
                <a:chOff x="1496396" y="2249523"/>
                <a:chExt cx="1876388" cy="1661301"/>
              </a:xfrm>
            </p:grpSpPr>
            <p:sp>
              <p:nvSpPr>
                <p:cNvPr id="76" name="圆角矩形 1"/>
                <p:cNvSpPr/>
                <p:nvPr/>
              </p:nvSpPr>
              <p:spPr>
                <a:xfrm>
                  <a:off x="1496396" y="2822069"/>
                  <a:ext cx="1871999" cy="1088755"/>
                </a:xfrm>
                <a:prstGeom prst="roundRect">
                  <a:avLst>
                    <a:gd name="adj" fmla="val 8264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80239" tIns="40119" rIns="80239" bIns="40119"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945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业务需求提出人</a:t>
                  </a:r>
                  <a:endParaRPr lang="zh-CN" altLang="en-US" sz="945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  <p:sp>
              <p:nvSpPr>
                <p:cNvPr id="77" name="圆角矩形 5"/>
                <p:cNvSpPr/>
                <p:nvPr/>
              </p:nvSpPr>
              <p:spPr>
                <a:xfrm>
                  <a:off x="1500785" y="2249523"/>
                  <a:ext cx="1871999" cy="546154"/>
                </a:xfrm>
                <a:prstGeom prst="roundRect">
                  <a:avLst>
                    <a:gd name="adj" fmla="val 10626"/>
                  </a:avLst>
                </a:prstGeom>
                <a:solidFill>
                  <a:srgbClr val="6CCEE5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73447" tIns="36724" rIns="73447" bIns="36724" rtlCol="0" anchor="ctr"/>
                <a:lstStyle/>
                <a:p>
                  <a:pPr algn="ctr">
                    <a:lnSpc>
                      <a:spcPct val="150000"/>
                    </a:lnSpc>
                    <a:defRPr/>
                  </a:pP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定制应用开发总师</a:t>
                  </a:r>
                  <a:r>
                    <a:rPr lang="zh-CN" altLang="en-US" sz="945" b="1" kern="0" dirty="0" smtClean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王钰</a:t>
                  </a:r>
                  <a:r>
                    <a:rPr lang="zh-CN" altLang="en-US" sz="945" b="1" kern="0" dirty="0" smtClean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森</a:t>
                  </a:r>
                  <a:endParaRPr lang="zh-CN" altLang="en-US" sz="945" b="1" kern="0" dirty="0" smtClean="0">
                    <a:solidFill>
                      <a:srgbClr val="262626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  <a:sym typeface="+mn-ea"/>
                  </a:endParaRPr>
                </a:p>
              </p:txBody>
            </p:sp>
          </p:grpSp>
          <p:grpSp>
            <p:nvGrpSpPr>
              <p:cNvPr id="64" name="组合 14"/>
              <p:cNvGrpSpPr/>
              <p:nvPr/>
            </p:nvGrpSpPr>
            <p:grpSpPr>
              <a:xfrm>
                <a:off x="3808525" y="4445870"/>
                <a:ext cx="1260000" cy="1580084"/>
                <a:chOff x="1496396" y="2249522"/>
                <a:chExt cx="1876388" cy="1661302"/>
              </a:xfrm>
            </p:grpSpPr>
            <p:sp>
              <p:nvSpPr>
                <p:cNvPr id="74" name="圆角矩形 1"/>
                <p:cNvSpPr/>
                <p:nvPr/>
              </p:nvSpPr>
              <p:spPr>
                <a:xfrm>
                  <a:off x="1496396" y="2822069"/>
                  <a:ext cx="1871999" cy="1088755"/>
                </a:xfrm>
                <a:prstGeom prst="roundRect">
                  <a:avLst>
                    <a:gd name="adj" fmla="val 8264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80239" tIns="40119" rIns="80239" bIns="40119"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945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移动端开发</a:t>
                  </a:r>
                  <a:endParaRPr lang="zh-CN" altLang="en-US" sz="945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  <p:sp>
              <p:nvSpPr>
                <p:cNvPr id="75" name="圆角矩形 5"/>
                <p:cNvSpPr/>
                <p:nvPr/>
              </p:nvSpPr>
              <p:spPr>
                <a:xfrm>
                  <a:off x="1500785" y="2249522"/>
                  <a:ext cx="1871999" cy="546154"/>
                </a:xfrm>
                <a:prstGeom prst="roundRect">
                  <a:avLst>
                    <a:gd name="adj" fmla="val 10626"/>
                  </a:avLst>
                </a:prstGeom>
                <a:solidFill>
                  <a:srgbClr val="6CCEE5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73447" tIns="36724" rIns="73447" bIns="36724" rtlCol="0" anchor="ctr"/>
                <a:lstStyle/>
                <a:p>
                  <a:pPr algn="ctr">
                    <a:lnSpc>
                      <a:spcPct val="150000"/>
                    </a:lnSpc>
                    <a:defRPr/>
                  </a:pP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软件开发工程师安俊</a:t>
                  </a:r>
                  <a:r>
                    <a:rPr lang="en-US" altLang="zh-CN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/</a:t>
                  </a: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毛</a:t>
                  </a: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朝龙</a:t>
                  </a:r>
                  <a:endParaRPr lang="zh-CN" altLang="en-US" sz="945" b="1" kern="0" dirty="0">
                    <a:solidFill>
                      <a:srgbClr val="262626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  <a:sym typeface="+mn-ea"/>
                  </a:endParaRPr>
                </a:p>
              </p:txBody>
            </p:sp>
          </p:grpSp>
          <p:grpSp>
            <p:nvGrpSpPr>
              <p:cNvPr id="65" name="组合 14"/>
              <p:cNvGrpSpPr/>
              <p:nvPr/>
            </p:nvGrpSpPr>
            <p:grpSpPr>
              <a:xfrm>
                <a:off x="2414158" y="4445871"/>
                <a:ext cx="1260000" cy="1580083"/>
                <a:chOff x="1496396" y="2249523"/>
                <a:chExt cx="1876388" cy="1661301"/>
              </a:xfrm>
            </p:grpSpPr>
            <p:sp>
              <p:nvSpPr>
                <p:cNvPr id="72" name="圆角矩形 1"/>
                <p:cNvSpPr/>
                <p:nvPr/>
              </p:nvSpPr>
              <p:spPr>
                <a:xfrm>
                  <a:off x="1496396" y="2822069"/>
                  <a:ext cx="1871999" cy="1088755"/>
                </a:xfrm>
                <a:prstGeom prst="roundRect">
                  <a:avLst>
                    <a:gd name="adj" fmla="val 8264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80239" tIns="40119" rIns="80239" bIns="40119" rtlCol="0" anchor="ctr"/>
                <a:lstStyle/>
                <a:p>
                  <a:pPr marL="228600" indent="-228600" algn="ctr">
                    <a:lnSpc>
                      <a:spcPct val="150000"/>
                    </a:lnSpc>
                    <a:buAutoNum type="arabicPeriod"/>
                  </a:pPr>
                  <a:r>
                    <a:rPr lang="zh-CN" altLang="en-US" sz="945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统筹项目进展</a:t>
                  </a:r>
                  <a:endParaRPr lang="en-US" altLang="zh-CN" sz="945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  <a:p>
                  <a:pPr marL="228600" indent="-228600" algn="ctr">
                    <a:lnSpc>
                      <a:spcPct val="150000"/>
                    </a:lnSpc>
                    <a:buAutoNum type="arabicPeriod"/>
                  </a:pPr>
                  <a:r>
                    <a:rPr lang="zh-CN" altLang="en-US" sz="945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平台功能设计</a:t>
                  </a:r>
                  <a:endParaRPr lang="zh-CN" altLang="en-US" sz="945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  <p:sp>
              <p:nvSpPr>
                <p:cNvPr id="73" name="圆角矩形 5"/>
                <p:cNvSpPr/>
                <p:nvPr/>
              </p:nvSpPr>
              <p:spPr>
                <a:xfrm>
                  <a:off x="1500784" y="2249523"/>
                  <a:ext cx="1872000" cy="546155"/>
                </a:xfrm>
                <a:prstGeom prst="roundRect">
                  <a:avLst>
                    <a:gd name="adj" fmla="val 10626"/>
                  </a:avLst>
                </a:prstGeom>
                <a:solidFill>
                  <a:srgbClr val="6CCEE5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73447" tIns="36724" rIns="73447" bIns="36724" rtlCol="0" anchor="ctr"/>
                <a:lstStyle/>
                <a:p>
                  <a:pPr algn="ctr">
                    <a:lnSpc>
                      <a:spcPct val="150000"/>
                    </a:lnSpc>
                    <a:defRPr/>
                  </a:pP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定制应用开发总师</a:t>
                  </a:r>
                  <a:r>
                    <a:rPr lang="zh-CN" altLang="en-US" sz="945" b="1" kern="0" dirty="0" smtClean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王钰森</a:t>
                  </a:r>
                  <a:endParaRPr lang="zh-CN" altLang="en-US" sz="945" b="1" kern="0" dirty="0">
                    <a:solidFill>
                      <a:srgbClr val="262626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</p:grpSp>
          <p:grpSp>
            <p:nvGrpSpPr>
              <p:cNvPr id="66" name="组合 14"/>
              <p:cNvGrpSpPr/>
              <p:nvPr/>
            </p:nvGrpSpPr>
            <p:grpSpPr>
              <a:xfrm>
                <a:off x="5202892" y="4445871"/>
                <a:ext cx="1260000" cy="1580083"/>
                <a:chOff x="1496396" y="2249523"/>
                <a:chExt cx="1876388" cy="1661301"/>
              </a:xfrm>
            </p:grpSpPr>
            <p:sp>
              <p:nvSpPr>
                <p:cNvPr id="70" name="圆角矩形 1"/>
                <p:cNvSpPr/>
                <p:nvPr/>
              </p:nvSpPr>
              <p:spPr>
                <a:xfrm>
                  <a:off x="1496396" y="2822069"/>
                  <a:ext cx="1871999" cy="1088755"/>
                </a:xfrm>
                <a:prstGeom prst="roundRect">
                  <a:avLst>
                    <a:gd name="adj" fmla="val 8264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80239" tIns="40119" rIns="80239" bIns="40119" rtlCol="0" anchor="ctr"/>
                <a:lstStyle/>
                <a:p>
                  <a:pPr marL="228600" indent="-228600" algn="ctr">
                    <a:lnSpc>
                      <a:spcPct val="150000"/>
                    </a:lnSpc>
                    <a:buAutoNum type="arabicPeriod"/>
                  </a:pPr>
                  <a:r>
                    <a:rPr lang="zh-CN" altLang="en-US" sz="945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软件功能测试</a:t>
                  </a:r>
                  <a:endParaRPr lang="en-US" altLang="zh-CN" sz="945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  <a:p>
                  <a:pPr marL="228600" indent="-228600" algn="ctr">
                    <a:lnSpc>
                      <a:spcPct val="150000"/>
                    </a:lnSpc>
                    <a:buAutoNum type="arabicPeriod"/>
                  </a:pPr>
                  <a:r>
                    <a:rPr lang="zh-CN" altLang="en-US" sz="945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系统性能测试</a:t>
                  </a:r>
                  <a:endParaRPr lang="zh-CN" altLang="en-US" sz="945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  <p:sp>
              <p:nvSpPr>
                <p:cNvPr id="71" name="圆角矩形 5"/>
                <p:cNvSpPr/>
                <p:nvPr/>
              </p:nvSpPr>
              <p:spPr>
                <a:xfrm>
                  <a:off x="1500785" y="2249523"/>
                  <a:ext cx="1871999" cy="546154"/>
                </a:xfrm>
                <a:prstGeom prst="roundRect">
                  <a:avLst>
                    <a:gd name="adj" fmla="val 10626"/>
                  </a:avLst>
                </a:prstGeom>
                <a:solidFill>
                  <a:srgbClr val="6CCEE5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73447" tIns="36724" rIns="73447" bIns="36724" rtlCol="0" anchor="ctr"/>
                <a:lstStyle/>
                <a:p>
                  <a:pPr algn="ctr">
                    <a:lnSpc>
                      <a:spcPct val="150000"/>
                    </a:lnSpc>
                    <a:defRPr/>
                  </a:pP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测试工程师</a:t>
                  </a:r>
                  <a:endParaRPr lang="en-US" altLang="zh-CN" sz="945" b="1" kern="0" dirty="0">
                    <a:solidFill>
                      <a:srgbClr val="262626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  <a:p>
                  <a:pPr algn="ctr">
                    <a:lnSpc>
                      <a:spcPct val="150000"/>
                    </a:lnSpc>
                    <a:defRPr/>
                  </a:pPr>
                  <a:r>
                    <a:rPr lang="zh-CN" altLang="en-US" sz="945">
                      <a:ea typeface="微软雅黑" panose="020B0703020204020201" pitchFamily="34" charset="-122"/>
                      <a:cs typeface="Arial" panose="020B0604020202090204" pitchFamily="34" charset="0"/>
                      <a:sym typeface="+mn-ea"/>
                    </a:rPr>
                    <a:t>袁子昊</a:t>
                  </a:r>
                  <a:endParaRPr lang="zh-CN" altLang="en-US" sz="945" b="1" kern="0" dirty="0">
                    <a:solidFill>
                      <a:srgbClr val="262626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</p:grpSp>
          <p:grpSp>
            <p:nvGrpSpPr>
              <p:cNvPr id="67" name="组合 14"/>
              <p:cNvGrpSpPr/>
              <p:nvPr/>
            </p:nvGrpSpPr>
            <p:grpSpPr>
              <a:xfrm>
                <a:off x="6597259" y="4445871"/>
                <a:ext cx="1260000" cy="1580083"/>
                <a:chOff x="1496396" y="2249523"/>
                <a:chExt cx="1876388" cy="1661301"/>
              </a:xfrm>
            </p:grpSpPr>
            <p:sp>
              <p:nvSpPr>
                <p:cNvPr id="68" name="圆角矩形 1"/>
                <p:cNvSpPr/>
                <p:nvPr/>
              </p:nvSpPr>
              <p:spPr>
                <a:xfrm>
                  <a:off x="1496396" y="2822069"/>
                  <a:ext cx="1871999" cy="1088755"/>
                </a:xfrm>
                <a:prstGeom prst="roundRect">
                  <a:avLst>
                    <a:gd name="adj" fmla="val 8264"/>
                  </a:avLst>
                </a:prstGeom>
                <a:gradFill flip="none" rotWithShape="1">
                  <a:gsLst>
                    <a:gs pos="100000">
                      <a:srgbClr val="FCFCFC"/>
                    </a:gs>
                    <a:gs pos="0">
                      <a:srgbClr val="CCCCCC"/>
                    </a:gs>
                  </a:gsLst>
                  <a:lin ang="7200000" scaled="0"/>
                  <a:tileRect/>
                </a:gradFill>
                <a:ln w="12700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80239" tIns="40119" rIns="80239" bIns="40119"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945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开发过程技术支持</a:t>
                  </a:r>
                  <a:endParaRPr lang="zh-CN" altLang="en-US" sz="945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  <p:sp>
              <p:nvSpPr>
                <p:cNvPr id="69" name="圆角矩形 5"/>
                <p:cNvSpPr/>
                <p:nvPr/>
              </p:nvSpPr>
              <p:spPr>
                <a:xfrm>
                  <a:off x="1500785" y="2249523"/>
                  <a:ext cx="1871999" cy="546154"/>
                </a:xfrm>
                <a:prstGeom prst="roundRect">
                  <a:avLst>
                    <a:gd name="adj" fmla="val 10626"/>
                  </a:avLst>
                </a:prstGeom>
                <a:solidFill>
                  <a:srgbClr val="6CCEE5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73447" tIns="36724" rIns="73447" bIns="36724" rtlCol="0" anchor="ctr"/>
                <a:lstStyle/>
                <a:p>
                  <a:pPr algn="ctr">
                    <a:lnSpc>
                      <a:spcPct val="150000"/>
                    </a:lnSpc>
                    <a:defRPr/>
                  </a:pP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  <a:sym typeface="+mn-ea"/>
                    </a:rPr>
                    <a:t>技术支持</a:t>
                  </a:r>
                  <a:endParaRPr lang="en-US" altLang="zh-CN" sz="945" b="1" kern="0" dirty="0">
                    <a:solidFill>
                      <a:srgbClr val="262626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  <a:p>
                  <a:pPr algn="ctr">
                    <a:lnSpc>
                      <a:spcPct val="150000"/>
                    </a:lnSpc>
                    <a:defRPr/>
                  </a:pP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</a:rPr>
                    <a:t>毛</a:t>
                  </a:r>
                  <a:r>
                    <a:rPr lang="zh-CN" altLang="en-US" sz="945" b="1" kern="0" dirty="0">
                      <a:solidFill>
                        <a:srgbClr val="262626"/>
                      </a:solidFill>
                      <a:latin typeface="微软雅黑" panose="020B0703020204020201" pitchFamily="34" charset="-122"/>
                      <a:ea typeface="微软雅黑" panose="020B0703020204020201" pitchFamily="34" charset="-122"/>
                    </a:rPr>
                    <a:t>朝龙</a:t>
                  </a:r>
                  <a:endParaRPr lang="zh-CN" altLang="en-US" sz="945" b="1" kern="0" dirty="0">
                    <a:solidFill>
                      <a:srgbClr val="262626"/>
                    </a:solidFill>
                    <a:latin typeface="微软雅黑" panose="020B0703020204020201" pitchFamily="34" charset="-122"/>
                    <a:ea typeface="微软雅黑" panose="020B0703020204020201" pitchFamily="34" charset="-122"/>
                  </a:endParaRPr>
                </a:p>
              </p:txBody>
            </p:sp>
          </p:grpSp>
        </p:grpSp>
        <p:cxnSp>
          <p:nvCxnSpPr>
            <p:cNvPr id="57" name="直接连接符 56"/>
            <p:cNvCxnSpPr/>
            <p:nvPr/>
          </p:nvCxnSpPr>
          <p:spPr>
            <a:xfrm>
              <a:off x="2510007" y="3230869"/>
              <a:ext cx="330532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肘形连接符 57"/>
            <p:cNvCxnSpPr>
              <a:stCxn id="79" idx="2"/>
              <a:endCxn id="77" idx="0"/>
            </p:cNvCxnSpPr>
            <p:nvPr/>
          </p:nvCxnSpPr>
          <p:spPr>
            <a:xfrm rot="5400000">
              <a:off x="2703559" y="2966439"/>
              <a:ext cx="264138" cy="269472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肘形连接符 58"/>
            <p:cNvCxnSpPr>
              <a:stCxn id="79" idx="2"/>
              <a:endCxn id="73" idx="0"/>
            </p:cNvCxnSpPr>
            <p:nvPr/>
          </p:nvCxnSpPr>
          <p:spPr>
            <a:xfrm rot="5400000">
              <a:off x="3400743" y="3663623"/>
              <a:ext cx="264138" cy="130035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肘形连接符 59"/>
            <p:cNvCxnSpPr>
              <a:stCxn id="79" idx="2"/>
              <a:endCxn id="69" idx="0"/>
            </p:cNvCxnSpPr>
            <p:nvPr/>
          </p:nvCxnSpPr>
          <p:spPr>
            <a:xfrm rot="16200000" flipH="1">
              <a:off x="5492293" y="2872429"/>
              <a:ext cx="264138" cy="288274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肘形连接符 60"/>
            <p:cNvCxnSpPr>
              <a:stCxn id="79" idx="2"/>
              <a:endCxn id="75" idx="0"/>
            </p:cNvCxnSpPr>
            <p:nvPr/>
          </p:nvCxnSpPr>
          <p:spPr>
            <a:xfrm rot="16200000" flipH="1">
              <a:off x="4097926" y="4266796"/>
              <a:ext cx="264138" cy="9401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>
              <a:stCxn id="79" idx="2"/>
              <a:endCxn id="71" idx="0"/>
            </p:cNvCxnSpPr>
            <p:nvPr/>
          </p:nvCxnSpPr>
          <p:spPr>
            <a:xfrm rot="16200000" flipH="1">
              <a:off x="4795109" y="3569612"/>
              <a:ext cx="264138" cy="148837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矩形 16"/>
          <p:cNvSpPr>
            <a:spLocks noChangeArrowheads="1"/>
          </p:cNvSpPr>
          <p:nvPr/>
        </p:nvSpPr>
        <p:spPr bwMode="auto">
          <a:xfrm>
            <a:off x="243123" y="622967"/>
            <a:ext cx="4874860" cy="44044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0" hangingPunct="0">
              <a:defRPr/>
            </a:pPr>
            <a:r>
              <a:rPr lang="zh-CN" altLang="en-US" sz="226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团队组成</a:t>
            </a:r>
            <a:endParaRPr lang="zh-CN" altLang="en-US" sz="226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 bwMode="auto">
          <a:xfrm>
            <a:off x="194516" y="612175"/>
            <a:ext cx="6413030" cy="5611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4" tIns="45717" rIns="91434" bIns="45717" anchor="ctr"/>
          <a:lstStyle/>
          <a:p>
            <a:pPr defTabSz="645160">
              <a:lnSpc>
                <a:spcPct val="90000"/>
              </a:lnSpc>
              <a:defRPr/>
            </a:pPr>
            <a:r>
              <a:rPr lang="zh-CN" altLang="en-US" sz="2260" b="1" dirty="0">
                <a:latin typeface="微软雅黑" panose="020B0703020204020201" pitchFamily="34" charset="-122"/>
                <a:ea typeface="微软雅黑" panose="020B0703020204020201" pitchFamily="34" charset="-122"/>
                <a:cs typeface="+mj-cs"/>
              </a:rPr>
              <a:t>项目计划</a:t>
            </a:r>
            <a:endParaRPr lang="zh-CN" altLang="en-US" sz="2260" b="1" dirty="0">
              <a:latin typeface="微软雅黑" panose="020B0703020204020201" pitchFamily="34" charset="-122"/>
              <a:ea typeface="微软雅黑" panose="020B0703020204020201" pitchFamily="34" charset="-122"/>
              <a:cs typeface="+mj-cs"/>
            </a:endParaRPr>
          </a:p>
        </p:txBody>
      </p:sp>
      <p:graphicFrame>
        <p:nvGraphicFramePr>
          <p:cNvPr id="3" name="Group 4"/>
          <p:cNvGraphicFramePr>
            <a:graphicFrameLocks noGrp="1"/>
          </p:cNvGraphicFramePr>
          <p:nvPr/>
        </p:nvGraphicFramePr>
        <p:xfrm>
          <a:off x="448882" y="1441111"/>
          <a:ext cx="7750699" cy="2810003"/>
        </p:xfrm>
        <a:graphic>
          <a:graphicData uri="http://schemas.openxmlformats.org/drawingml/2006/table">
            <a:tbl>
              <a:tblPr/>
              <a:tblGrid>
                <a:gridCol w="1443758"/>
                <a:gridCol w="2416629"/>
                <a:gridCol w="3890312"/>
              </a:tblGrid>
              <a:tr h="564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项目阶段</a:t>
                      </a:r>
                      <a:endParaRPr kumimoji="0" lang="zh-CN" alt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日期</a:t>
                      </a:r>
                      <a:endParaRPr kumimoji="0" lang="zh-CN" alt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主要活动内容</a:t>
                      </a:r>
                      <a:endParaRPr kumimoji="0" lang="zh-CN" alt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I  </a:t>
                      </a:r>
                      <a:r>
                        <a:rPr kumimoji="0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定义</a:t>
                      </a:r>
                      <a:endParaRPr kumimoji="0" lang="zh-CN" alt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1230" marR="81230" marT="40603" marB="4060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20250305-20250415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300" dirty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项目定义、</a:t>
                      </a:r>
                      <a:r>
                        <a:rPr lang="en-US" altLang="zh-CN" sz="1300" dirty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VOC</a:t>
                      </a:r>
                      <a:r>
                        <a:rPr lang="zh-CN" altLang="en-US" sz="1300" dirty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、需求整理、需求重要度分析、需求转换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7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D </a:t>
                      </a:r>
                      <a:r>
                        <a:rPr kumimoji="0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</a:t>
                      </a:r>
                      <a:endParaRPr kumimoji="0" lang="zh-CN" alt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1230" marR="81230" marT="40603" marB="4060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dirty="0" smtClean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20250415-20250631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300" dirty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功能分析、系统设计、迭代计划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4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O </a:t>
                      </a:r>
                      <a:r>
                        <a:rPr kumimoji="0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优化</a:t>
                      </a:r>
                      <a:endParaRPr kumimoji="0" lang="zh-CN" alt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1230" marR="81230" marT="40603" marB="4060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dirty="0" smtClean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20250701-20250731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30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软件开发、集成测试及设计调整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5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V </a:t>
                      </a:r>
                      <a:r>
                        <a:rPr kumimoji="0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</a:t>
                      </a:r>
                      <a:endParaRPr kumimoji="0" lang="zh-CN" altLang="en-US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1230" marR="81230" marT="40603" marB="4060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dirty="0" smtClean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20250801</a:t>
                      </a:r>
                      <a:r>
                        <a:rPr lang="en-US" altLang="zh-CN" sz="1300" dirty="0" smtClean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-20250901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300" dirty="0">
                          <a:ln>
                            <a:noFill/>
                          </a:ln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功能验证</a:t>
                      </a:r>
                      <a:endParaRPr kumimoji="0" lang="zh-CN" altLang="zh-CN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3" marR="86183" marT="43075" marB="430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61047" y="1800637"/>
            <a:ext cx="5245855" cy="319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通过访谈</a:t>
            </a:r>
            <a:r>
              <a:rPr lang="en-US" altLang="zh-CN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5+</a:t>
            </a:r>
            <a:r>
              <a:rPr lang="zh-CN" altLang="en-US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开发相关人员、</a:t>
            </a:r>
            <a:r>
              <a:rPr lang="zh-CN" altLang="en-US" sz="990" b="1" dirty="0">
                <a:sym typeface="+mn-ea"/>
              </a:rPr>
              <a:t>技术负责人和测试一位。</a:t>
            </a:r>
            <a:r>
              <a:rPr lang="zh-CN" altLang="en-US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收集了</a:t>
            </a:r>
            <a:r>
              <a:rPr lang="en-US" altLang="zh-CN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8+</a:t>
            </a:r>
            <a:r>
              <a:rPr lang="zh-CN" altLang="en-US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条开发相关现存问题：</a:t>
            </a:r>
            <a:endParaRPr lang="zh-CN" altLang="en-US" sz="990" dirty="0">
              <a:solidFill>
                <a:prstClr val="black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18" name="标题 1"/>
          <p:cNvSpPr txBox="1"/>
          <p:nvPr/>
        </p:nvSpPr>
        <p:spPr bwMode="auto">
          <a:xfrm>
            <a:off x="137498" y="1241007"/>
            <a:ext cx="4533211" cy="3966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4632" tIns="32316" rIns="64632" bIns="32316" anchor="ctr"/>
          <a:lstStyle/>
          <a:p>
            <a:pPr defTabSz="644525">
              <a:lnSpc>
                <a:spcPct val="90000"/>
              </a:lnSpc>
              <a:defRPr/>
            </a:pP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识别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（</a:t>
            </a:r>
            <a:r>
              <a:rPr lang="en-US" altLang="zh-CN" sz="1695" b="1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I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dentify）</a:t>
            </a:r>
            <a:r>
              <a:rPr lang="en-US" altLang="zh-CN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—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客户之</a:t>
            </a:r>
            <a:r>
              <a:rPr lang="zh-CN" altLang="en-US" sz="1695" b="1" dirty="0" smtClean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声</a:t>
            </a:r>
            <a:endParaRPr lang="zh-CN" altLang="en-US" sz="169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1047" y="1567866"/>
            <a:ext cx="3054082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70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面对面访谈</a:t>
            </a:r>
            <a:endParaRPr lang="zh-CN" altLang="en-US" sz="1270" b="1" dirty="0">
              <a:solidFill>
                <a:prstClr val="black"/>
              </a:solidFill>
              <a:ea typeface="宋体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8576" y="2180533"/>
            <a:ext cx="7844471" cy="3116050"/>
            <a:chOff x="342130" y="1784146"/>
            <a:chExt cx="8161263" cy="4425902"/>
          </a:xfrm>
        </p:grpSpPr>
        <p:sp>
          <p:nvSpPr>
            <p:cNvPr id="15" name="矩形 14"/>
            <p:cNvSpPr/>
            <p:nvPr/>
          </p:nvSpPr>
          <p:spPr>
            <a:xfrm>
              <a:off x="342130" y="1784146"/>
              <a:ext cx="6537732" cy="378809"/>
            </a:xfrm>
            <a:prstGeom prst="rect">
              <a:avLst/>
            </a:prstGeom>
            <a:solidFill>
              <a:srgbClr val="5B9BD5">
                <a:lumMod val="40000"/>
                <a:lumOff val="60000"/>
                <a:alpha val="74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glow rad="63500">
                <a:srgbClr val="E7E6E6">
                  <a:lumMod val="90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90" dirty="0">
                  <a:sym typeface="+mn-ea"/>
                </a:rPr>
                <a:t>技术负责人：王钰森；测试团队</a:t>
              </a:r>
              <a:r>
                <a:rPr lang="en-US" altLang="zh-CN" sz="990" dirty="0">
                  <a:sym typeface="+mn-ea"/>
                </a:rPr>
                <a:t>-</a:t>
              </a:r>
              <a:r>
                <a:rPr lang="zh-CN" altLang="en-US" sz="990" dirty="0">
                  <a:sym typeface="+mn-ea"/>
                </a:rPr>
                <a:t>袁子昊；开发：</a:t>
              </a:r>
              <a:r>
                <a:rPr lang="zh-CN" altLang="en-US" sz="990" dirty="0">
                  <a:sym typeface="+mn-ea"/>
                </a:rPr>
                <a:t>毛朝龙、安俊、白浩、杨高伟、罗中华</a:t>
              </a:r>
              <a:r>
                <a:rPr kumimoji="1" lang="en-US" altLang="zh-CN" sz="99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…</a:t>
              </a:r>
              <a:endParaRPr lang="zh-CN" altLang="en-US" sz="990" dirty="0">
                <a:sym typeface="+mn-ea"/>
              </a:endParaRPr>
            </a:p>
          </p:txBody>
        </p:sp>
        <p:sp>
          <p:nvSpPr>
            <p:cNvPr id="16" name="虚尾箭头 15"/>
            <p:cNvSpPr/>
            <p:nvPr/>
          </p:nvSpPr>
          <p:spPr>
            <a:xfrm rot="5400000">
              <a:off x="2605943" y="2546838"/>
              <a:ext cx="315587" cy="295618"/>
            </a:xfrm>
            <a:prstGeom prst="stripedRightArrow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9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49154" y="2934102"/>
              <a:ext cx="4629793" cy="2654369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9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存在问题：</a:t>
              </a:r>
              <a:endParaRPr kumimoji="0" lang="en-US" altLang="ja-JP" sz="99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测试反馈海外</a:t>
              </a:r>
              <a:r>
                <a:rPr kumimoji="0" lang="en-US" alt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APP</a:t>
              </a:r>
              <a:r>
                <a:rPr kumimoji="0" lang="zh-CN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在</a:t>
              </a: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强光</a:t>
              </a:r>
              <a:r>
                <a:rPr kumimoji="0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车机亮度≥1000nit</a:t>
              </a: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下</a:t>
              </a:r>
              <a:r>
                <a:rPr kumimoji="0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扫码成功率仅 43%</a:t>
              </a: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，</a:t>
              </a:r>
              <a:r>
                <a:rPr lang="zh-CN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弱光</a:t>
              </a:r>
              <a:r>
                <a:rPr altLang="en-US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环境光照≤50lux</a:t>
              </a:r>
              <a:r>
                <a:rPr lang="zh-CN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，成功率仅 55%。</a:t>
              </a:r>
              <a:endParaRPr lang="zh-CN" sz="78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lang="zh-CN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技术负责人反馈</a:t>
              </a:r>
              <a:r>
                <a:rPr kumimoji="0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海外</a:t>
              </a:r>
              <a:r>
                <a:rPr kumimoji="0" 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iOS </a:t>
              </a:r>
              <a:r>
                <a:rPr kumimoji="0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DEEPAL扫码组件基于客户端原生扫码识别能力</a:t>
              </a: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，未对扫描图片进行</a:t>
              </a: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处理。</a:t>
              </a:r>
              <a:endParaRPr kumimoji="0" lang="zh-CN" sz="78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国内 APP（引力域、启源、凯程）使用</a:t>
              </a:r>
              <a:r>
                <a:rPr kumimoji="0" lang="zh-CN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的</a:t>
              </a:r>
              <a:r>
                <a:rPr kumimoji="0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腾讯智能扫码组件，单次调用成本 0.045 元</a:t>
              </a:r>
              <a:endParaRPr kumimoji="0" sz="780" b="0" i="0" u="none" strike="noStrike" kern="0" cap="none" spc="0" normalizeH="0" baseline="0" dirty="0"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国内</a:t>
              </a:r>
              <a:r>
                <a:rPr kumimoji="0" lang="en-US" altLang="zh-CN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APP</a:t>
              </a:r>
              <a:r>
                <a:rPr kumimoji="0" lang="zh-CN" altLang="en-US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扫码</a:t>
              </a:r>
              <a:r>
                <a:rPr kumimoji="0" lang="zh-CN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组件体积达 50M，导致各 APP 安装包基础体积增加接近</a:t>
              </a:r>
              <a:r>
                <a:rPr kumimoji="0" lang="en-US" altLang="zh-CN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8-10%</a:t>
              </a:r>
              <a:r>
                <a:rPr kumimoji="0" lang="zh-CN" altLang="en-US" sz="780" b="0" i="0" u="none" strike="noStrike" kern="0" cap="none" spc="0" normalizeH="0" baseline="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。</a:t>
              </a:r>
              <a:endParaRPr kumimoji="0" lang="zh-CN" altLang="en-US" sz="780" b="0" i="0" u="none" strike="noStrike" kern="0" cap="none" spc="0" normalizeH="0" baseline="0" dirty="0"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sz="780" kern="0" dirty="0"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腾讯智能扫码组件</a:t>
              </a:r>
              <a:r>
                <a:rPr lang="zh-CN" sz="780" kern="0" dirty="0"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云服务未支持海外国家，无法在海外</a:t>
              </a:r>
              <a:r>
                <a:rPr lang="en-US" altLang="zh-CN" sz="780" kern="0" dirty="0"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APP</a:t>
              </a:r>
              <a:r>
                <a:rPr lang="zh-CN" altLang="en-US" sz="780" kern="0" dirty="0"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上使用</a:t>
              </a:r>
              <a:r>
                <a:rPr lang="zh-CN" sz="780" kern="0" dirty="0"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。</a:t>
              </a:r>
              <a:endParaRPr kumimoji="0" lang="zh-CN" sz="780" b="0" i="0" u="none" strike="noStrike" kern="0" cap="none" spc="0" normalizeH="0" baseline="0" dirty="0"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各 APP（引力域、启源、凯程、海外 DEEPAL）扫码模块独立开发，无统一复用框架</a:t>
              </a:r>
              <a:r>
                <a:rPr lang="zh-CN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。</a:t>
              </a:r>
              <a:endParaRPr sz="78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lang="zh-CN" altLang="ja-JP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新</a:t>
              </a:r>
              <a:r>
                <a:rPr lang="en-US" altLang="zh-CN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APP</a:t>
              </a:r>
              <a:r>
                <a:rPr lang="zh-CN" altLang="en-US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接入扫码功能</a:t>
              </a:r>
              <a:r>
                <a:rPr lang="zh-CN" altLang="ja-JP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，需修改 APP 主流程代码，兼容性风险增加。</a:t>
              </a:r>
              <a:endParaRPr lang="zh-CN" altLang="ja-JP" sz="78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lang="zh-CN" altLang="ja-JP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被动接收用户反馈，无法统计 “扫码失败原因、机型等基础</a:t>
              </a:r>
              <a:r>
                <a:rPr lang="zh-CN" altLang="ja-JP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参数。</a:t>
              </a:r>
              <a:endParaRPr lang="zh-CN" altLang="ja-JP" sz="78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endParaRPr>
            </a:p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endParaRPr kumimoji="0" lang="ja-JP" altLang="en-US" sz="74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</p:txBody>
        </p:sp>
        <p:sp>
          <p:nvSpPr>
            <p:cNvPr id="21" name="虚尾箭头 20"/>
            <p:cNvSpPr/>
            <p:nvPr/>
          </p:nvSpPr>
          <p:spPr>
            <a:xfrm>
              <a:off x="5292788" y="4219087"/>
              <a:ext cx="284859" cy="295618"/>
            </a:xfrm>
            <a:prstGeom prst="stripedRightArrow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9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634968" y="2659894"/>
              <a:ext cx="2868425" cy="432473"/>
            </a:xfrm>
            <a:prstGeom prst="rect">
              <a:avLst/>
            </a:prstGeom>
            <a:solidFill>
              <a:srgbClr val="5B9BD5">
                <a:lumMod val="40000"/>
                <a:lumOff val="60000"/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① </a:t>
              </a:r>
              <a:r>
                <a:rPr lang="ja-JP" altLang="en-US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极端光环境下扫码成功率极低，核心功能受阻</a:t>
              </a:r>
              <a:r>
                <a:rPr lang="zh-CN" altLang="ja-JP" sz="78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sym typeface="+mn-ea"/>
                </a:rPr>
                <a:t>；</a:t>
              </a:r>
              <a:endParaRPr kumimoji="0" lang="zh-CN" altLang="ja-JP" sz="78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634967" y="3286495"/>
              <a:ext cx="2868425" cy="432473"/>
            </a:xfrm>
            <a:prstGeom prst="rect">
              <a:avLst/>
            </a:prstGeom>
            <a:solidFill>
              <a:srgbClr val="5B9BD5">
                <a:lumMod val="40000"/>
                <a:lumOff val="60000"/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② 国内付费组件成本高、体积大，双重消耗资源；</a:t>
              </a:r>
              <a:endParaRPr kumimoji="0" lang="zh-CN" altLang="en-US" sz="78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634967" y="3913096"/>
              <a:ext cx="2868425" cy="432473"/>
            </a:xfrm>
            <a:prstGeom prst="rect">
              <a:avLst/>
            </a:prstGeom>
            <a:solidFill>
              <a:srgbClr val="5B9BD5">
                <a:lumMod val="40000"/>
                <a:lumOff val="60000"/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③ </a:t>
              </a:r>
              <a:r>
                <a:rPr kumimoji="0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组件复用机制缺失，开发测试资源严重浪费</a:t>
              </a: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；</a:t>
              </a:r>
              <a:endParaRPr kumimoji="0" lang="zh-CN" sz="78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634967" y="4534589"/>
              <a:ext cx="2868425" cy="432473"/>
            </a:xfrm>
            <a:prstGeom prst="rect">
              <a:avLst/>
            </a:prstGeom>
            <a:solidFill>
              <a:srgbClr val="5B9BD5">
                <a:lumMod val="40000"/>
                <a:lumOff val="60000"/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④ 模块耦合度高，接入风险</a:t>
              </a:r>
              <a:r>
                <a:rPr kumimoji="0" lang="zh-CN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大；​</a:t>
              </a:r>
              <a:endParaRPr kumimoji="0" lang="zh-CN" altLang="en-US" sz="78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634966" y="5156082"/>
              <a:ext cx="2868425" cy="432473"/>
            </a:xfrm>
            <a:prstGeom prst="rect">
              <a:avLst/>
            </a:prstGeom>
            <a:solidFill>
              <a:srgbClr val="5B9BD5">
                <a:lumMod val="40000"/>
                <a:lumOff val="60000"/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⑤ </a:t>
              </a:r>
              <a:r>
                <a:rPr kumimoji="0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扫码数据监控缺失，问题定位滞后</a:t>
              </a:r>
              <a:r>
                <a:rPr kumimoji="0" 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；</a:t>
              </a:r>
              <a:endParaRPr kumimoji="0" lang="zh-CN" sz="78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634965" y="5777575"/>
              <a:ext cx="2868425" cy="432473"/>
            </a:xfrm>
            <a:prstGeom prst="rect">
              <a:avLst/>
            </a:prstGeom>
            <a:solidFill>
              <a:srgbClr val="5B9BD5">
                <a:lumMod val="40000"/>
                <a:lumOff val="60000"/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8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703020204020201" pitchFamily="34" charset="-122"/>
                  <a:ea typeface="微软雅黑" panose="020B0703020204020201" pitchFamily="34" charset="-122"/>
                  <a:cs typeface="+mn-cs"/>
                </a:rPr>
                <a:t>…</a:t>
              </a:r>
              <a:endParaRPr kumimoji="0" lang="zh-CN" altLang="en-US" sz="78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7160" y="1201420"/>
            <a:ext cx="7599045" cy="77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问题根因：为何极端光照下二维码难以识别？</a:t>
            </a:r>
            <a:endParaRPr sz="990" dirty="0">
              <a:solidFill>
                <a:prstClr val="black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  <a:p>
            <a:pPr>
              <a:lnSpc>
                <a:spcPct val="150000"/>
              </a:lnSpc>
            </a:pPr>
            <a:r>
              <a:rPr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二维码识别的底层逻辑</a:t>
            </a:r>
            <a:r>
              <a:rPr lang="zh-CN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：</a:t>
            </a:r>
            <a:r>
              <a:rPr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“算法通过区分黑白模块的边界，解析编码信息”</a:t>
            </a:r>
            <a:r>
              <a:rPr lang="zh-CN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，</a:t>
            </a:r>
            <a:r>
              <a:rPr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算法能正常工作的前提是：图像具备 “清晰的黑白边界、无失真的色彩信息、稳定的帧质量”。</a:t>
            </a:r>
            <a:endParaRPr sz="990" dirty="0">
              <a:solidFill>
                <a:prstClr val="black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137498" y="767297"/>
            <a:ext cx="4533211" cy="3966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4632" tIns="32316" rIns="64632" bIns="32316" anchor="ctr"/>
          <a:lstStyle/>
          <a:p>
            <a:pPr defTabSz="644525">
              <a:lnSpc>
                <a:spcPct val="90000"/>
              </a:lnSpc>
              <a:defRPr/>
            </a:pP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识别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（</a:t>
            </a:r>
            <a:r>
              <a:rPr lang="en-US" altLang="zh-CN" sz="1695" b="1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I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dentify）</a:t>
            </a:r>
            <a:r>
              <a:rPr lang="en-US" altLang="zh-CN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—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需求</a:t>
            </a:r>
            <a:r>
              <a:rPr lang="zh-CN" altLang="en-US" sz="1695" b="1" dirty="0" smtClean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识别</a:t>
            </a:r>
            <a:endParaRPr lang="zh-CN" altLang="en-US" sz="1695" b="1" dirty="0">
              <a:solidFill>
                <a:prstClr val="black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238760" y="1981200"/>
          <a:ext cx="7901305" cy="3909695"/>
        </p:xfrm>
        <a:graphic>
          <a:graphicData uri="http://schemas.openxmlformats.org/drawingml/2006/table">
            <a:tbl>
              <a:tblPr firstRow="1" bandRow="1"/>
              <a:tblGrid>
                <a:gridCol w="1253490"/>
                <a:gridCol w="1918335"/>
                <a:gridCol w="2844165"/>
                <a:gridCol w="1885315"/>
              </a:tblGrid>
              <a:tr h="334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50" b="0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场景</a:t>
                      </a:r>
                      <a:endParaRPr lang="zh-CN" altLang="en-US" sz="850" b="0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50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问题维度</a:t>
                      </a:r>
                      <a:endParaRPr lang="zh-CN" altLang="en-US" sz="85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sz="8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具体问题表现</a:t>
                      </a:r>
                      <a:endParaRPr sz="85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sz="8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对扫码的直接影响</a:t>
                      </a:r>
                      <a:endParaRPr sz="85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</a:tr>
              <a:tr h="323215"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ja-JP" altLang="en-US" sz="780" kern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强光环境（≥1000 nits）下的核心问题</a:t>
                      </a:r>
                      <a:endParaRPr lang="ja-JP" altLang="en-US" sz="780" kern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曝光失控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sz="78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图像整体过曝、发白，二维码黑白模块的边界泛化、消失。</a:t>
                      </a:r>
                      <a:endParaRPr lang="zh-CN" sz="78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识别算法无法定位和分割二维码的“黑”与“白”。</a:t>
                      </a:r>
                      <a:endParaRPr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色彩失真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363220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高光区域色彩饱和度急剧下降，表面产生强烈反光、光斑。</a:t>
                      </a:r>
                      <a:endParaRPr lang="zh-CN" sz="780" dirty="0" smtClean="0"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二维码的深色模块因反光变“亮”，与浅色模块混淆。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对比度失效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481965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最黑与最白的绝对差值减小，整个图像趋于一片灰白。</a:t>
                      </a:r>
                      <a:endParaRPr lang="zh-CN" sz="780" dirty="0" smtClean="0"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二维码赖以生存的高对比度特征消失，识别基础不复存在。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1965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视频帧预处理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传感器噪声与过曝区域的像素溢出交织，图像信噪比低。	</a:t>
                      </a:r>
                      <a:endParaRPr lang="zh-CN" sz="780" dirty="0" smtClean="0"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预处理算法需要对抗“虚假信息”，稳定帧质量的难度大增。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3220">
                <a:tc rowSpan="5"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弱光环境（≤50 nits）下的核心问题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曝光不足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/>
                      <a:r>
                        <a:rPr lang="zh-CN" sz="78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图像整体欠曝、昏暗，二维码的黑色模块难以与背景区分。</a:t>
                      </a:r>
                      <a:endParaRPr lang="zh-CN" sz="78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/>
                      <a:r>
                        <a:rPr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二维码整体“隐藏”在黑暗中，算法无法发现目标。</a:t>
                      </a:r>
                      <a:endParaRPr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4175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色彩信噪比低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色彩信息被大量随机噪点（噪点）覆盖，色偏严重。</a:t>
                      </a:r>
                      <a:endParaRPr lang="zh-CN" sz="780" dirty="0" smtClean="0"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彩色噪点干扰了二维码轮廓的清晰度，引入误判。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14655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对比度微弱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黑白模块的亮度值非常接近，反差不足。</a:t>
                      </a:r>
                      <a:endParaRPr lang="zh-CN" sz="780" dirty="0" smtClean="0"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算法边缘检测困难，无法精确勾勒出二维码的方阵结构。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4330">
                <a:tc vMerge="1">
                  <a:tcPr/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视频帧预处理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帧与帧之间抖动明显，且存在大量随机噪点和色彩噪点。</a:t>
                      </a:r>
                      <a:endParaRPr lang="zh-CN" sz="780" dirty="0" smtClean="0"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预处理的首要任务是锐化。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8940">
                <a:tc vMerge="1">
                  <a:tcPr/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灰度化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在原始彩色噪点的基础上直接灰度化，会得到布满亮暗噪点的灰度图，进一步干扰识别。</a:t>
                      </a:r>
                      <a:endParaRPr lang="zh-CN" sz="780" dirty="0" smtClean="0"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必须在灰度化之前或之后进行有效的噪声抑制。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6888" y="1201338"/>
            <a:ext cx="5311464" cy="319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</a:t>
            </a:r>
            <a:r>
              <a:rPr lang="zh-CN" altLang="en-US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、整理三大渠道反馈的问题，并将问题通过分析转化成</a:t>
            </a:r>
            <a:r>
              <a:rPr lang="zh-CN" altLang="en-US" sz="990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需求</a:t>
            </a:r>
            <a:r>
              <a:rPr lang="en-US" altLang="zh-CN" sz="990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KJ</a:t>
            </a:r>
            <a:r>
              <a:rPr lang="zh-CN" altLang="en-US" sz="990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：</a:t>
            </a:r>
            <a:endParaRPr lang="zh-CN" altLang="en-US" sz="990" dirty="0">
              <a:solidFill>
                <a:prstClr val="black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137498" y="767297"/>
            <a:ext cx="4533211" cy="3966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4632" tIns="32316" rIns="64632" bIns="32316" anchor="ctr"/>
          <a:lstStyle/>
          <a:p>
            <a:pPr defTabSz="644525">
              <a:lnSpc>
                <a:spcPct val="90000"/>
              </a:lnSpc>
              <a:defRPr/>
            </a:pP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识别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（</a:t>
            </a:r>
            <a:r>
              <a:rPr lang="en-US" altLang="zh-CN" sz="1695" b="1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I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dentify）</a:t>
            </a:r>
            <a:r>
              <a:rPr lang="en-US" altLang="zh-CN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—</a:t>
            </a:r>
            <a:r>
              <a:rPr lang="zh-CN" altLang="en-US" sz="1695" b="1" dirty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需求</a:t>
            </a:r>
            <a:r>
              <a:rPr lang="zh-CN" altLang="en-US" sz="1695" b="1" dirty="0" smtClean="0">
                <a:solidFill>
                  <a:prstClr val="black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识别</a:t>
            </a:r>
            <a:endParaRPr lang="zh-CN" altLang="en-US" sz="1695" b="1" dirty="0">
              <a:solidFill>
                <a:prstClr val="black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238760" y="1558290"/>
          <a:ext cx="7901305" cy="3571240"/>
        </p:xfrm>
        <a:graphic>
          <a:graphicData uri="http://schemas.openxmlformats.org/drawingml/2006/table">
            <a:tbl>
              <a:tblPr firstRow="1" bandRow="1"/>
              <a:tblGrid>
                <a:gridCol w="1253490"/>
                <a:gridCol w="3724275"/>
                <a:gridCol w="1694815"/>
                <a:gridCol w="1228725"/>
              </a:tblGrid>
              <a:tr h="2851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50" b="0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问题</a:t>
                      </a:r>
                      <a:endParaRPr lang="zh-CN" altLang="en-US" sz="850" b="0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8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分析</a:t>
                      </a:r>
                      <a:endParaRPr lang="zh-CN" altLang="en-US" sz="85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需求 </a:t>
                      </a:r>
                      <a:r>
                        <a:rPr lang="en-US" sz="8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KJ</a:t>
                      </a:r>
                      <a:endParaRPr lang="en-US" sz="85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RS</a:t>
                      </a:r>
                      <a:r>
                        <a:rPr lang="zh-CN" altLang="en-US" sz="8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（需求规格）</a:t>
                      </a:r>
                      <a:endParaRPr lang="zh-CN" altLang="en-US" sz="85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7F"/>
                    </a:solidFill>
                  </a:tcPr>
                </a:tc>
              </a:tr>
              <a:tr h="323215">
                <a:tc rowSpan="7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ja-JP" altLang="en-US" sz="780" kern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极端光环境下扫码成功率极低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系统识别的是单个帧的图片，需要捕获系统的视频帧，再去优化图片</a:t>
                      </a: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识别。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zh-CN" sz="78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视频帧预处理</a:t>
                      </a:r>
                      <a:endParaRPr lang="zh-CN" sz="78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增强强弱光下扫码识别能力，扫码识别率达</a:t>
                      </a:r>
                      <a:r>
                        <a:rPr lang="en-US" altLang="zh-CN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&gt;=95%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极端光会打乱色彩平衡 —强光下二维码色彩过饱和（白块泛色、黑块发灰），弱光下色彩暗淡且有噪点（二维码边缘糊成杂色），两种情况都会让识别算法 “分不清黑白块”；需根据环境光调饱和度（强光降饱和、弱光降噪点），让二维码色彩回归清晰。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323215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色彩优化</a:t>
                      </a:r>
                      <a:endParaRPr lang="zh-CN" altLang="en-US" sz="78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0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强光下画面 “过曝”（二维码白块亮到刺眼，与黑块反差消失），弱光下 “欠曝”（黑块暗到没细节，二维码轮廓融在阴影里），这是扫码失败的核心原因；只有动态调曝光度（强光减 0.3EV 防过曝、弱光加 0.7EV 补光），才能让画面明暗适中，二维码的黑白边界显出来。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323850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曝光优化</a:t>
                      </a:r>
                      <a:endParaRPr lang="zh-CN" altLang="en-US" sz="78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323215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不管强光还是弱光，都会让画面 “对比度变低”—— 强光下整体偏亮，二维码黑白块 “都发灰”；弱光下整体偏暗，黑白块 “都发黑”，识别算法抓不住边界；需针对性提对比度（强光提 1.2 倍、弱光提 1.4 倍），让黑块更黑、白块更白，突出二维码的格子结构。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对比度优化</a:t>
                      </a:r>
                      <a:endParaRPr lang="zh-CN" altLang="en-US" sz="78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323215"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chemeClr val="tx1"/>
                          </a:solidFill>
                          <a:sym typeface="+mn-ea"/>
                        </a:rPr>
                        <a:t>彩色图受光线影响大（比如不同光线下二维码可能偏红、偏蓝），会干扰算法判断；转成灰度图后，图像只剩黑白灰，简化了信息，算法不用处理色彩偏差，只需识别 “明暗差异”，不管强光弱光，二维码的明暗层次都更稳定，识别更准。</a:t>
                      </a:r>
                      <a:endParaRPr lang="zh-CN" altLang="en-US" sz="78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sz="780" dirty="0" smtClean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灰度化</a:t>
                      </a:r>
                      <a:endParaRPr lang="zh-CN" altLang="en-US" sz="78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319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780" kern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国内付费组件成本高、体积大，双重消耗资源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dirty="0">
                          <a:solidFill>
                            <a:srgbClr val="000000"/>
                          </a:solidFill>
                          <a:effectLst/>
                          <a:latin typeface="宋体" charset="0"/>
                          <a:ea typeface="宋体" charset="0"/>
                          <a:cs typeface="宋体" charset="0"/>
                          <a:sym typeface="+mn-ea"/>
                        </a:rPr>
                        <a:t>现在用的腾讯扫码组件，一是 “花钱多”—— 单次调用 0.045 元；二是 “占空间”—— 组件体积 50M，让各 APP 安装包变大 8%-10%；只有自己开发轻量引擎，才能做到 “不花钱” 且 “体积小（&lt;1M）”，同时解决成本和体积两个问题。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780" dirty="0" smtClean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自研轻量扫码引擎</a:t>
                      </a:r>
                      <a:endParaRPr lang="en-US" altLang="zh-CN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使用自研免费方案，</a:t>
                      </a:r>
                      <a:r>
                        <a:rPr lang="zh-CN" altLang="en-US" sz="780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包体积占用</a:t>
                      </a:r>
                      <a:r>
                        <a:rPr lang="en-US" altLang="zh-CN" sz="780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&lt;1M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007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sz="780" kern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组件复用机制缺失，开发测试资源严重浪费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charset="0"/>
                          <a:ea typeface="宋体" charset="0"/>
                          <a:cs typeface="宋体" charset="0"/>
                        </a:rPr>
                        <a:t>引力域、启源、凯程、海外 DEEPAL 这 4 个 APP，扫码模块都是 “单独做”—— 开发要重复写一样的代码（比如二维码解析、结果回调），测试要重复测一样的场景（强光、弱光、不同机型），光开发就浪费 10 人 / 天；如果把扫码模块做成 “独立插件”，所有 APP 都能直接用，不用重复开发，迁移时 1 个人 1 天就能搞定，能省大量人力和时间。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780" dirty="0" smtClean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独立化模块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模块化开发，迁移其他</a:t>
                      </a:r>
                      <a:r>
                        <a:rPr lang="en-US" altLang="zh-CN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APP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成本</a:t>
                      </a:r>
                      <a:r>
                        <a:rPr lang="en-US" altLang="zh-CN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&lt;=1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人</a:t>
                      </a:r>
                      <a:r>
                        <a:rPr lang="en-US" altLang="zh-CN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/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天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780" b="1" kern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charset="0"/>
                          <a:ea typeface="宋体" charset="0"/>
                          <a:sym typeface="+mn-ea"/>
                        </a:rPr>
                        <a:t>模块耦合度高，接入风险大</a:t>
                      </a:r>
                      <a:endParaRPr lang="zh-CN" altLang="en-US" sz="780" b="1" i="0" u="none" strike="noStrike" kern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宋体" charset="0"/>
                        <a:ea typeface="宋体" charset="0"/>
                        <a:sym typeface="+mn-ea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charset="0"/>
                          <a:ea typeface="宋体" charset="0"/>
                          <a:cs typeface="宋体" charset="0"/>
                        </a:rPr>
                        <a:t>现在扫码模块和 APP 主流程 “绑得紧”—— 要给新 APP 接扫码功能，或者改扫码模块的功能，必须动 APP 的核心代码（比如登录流程、首页逻辑），很容易改出 bug（比如改扫码后登录闪退）；只有定个 “标准接口”（像统一的 “插头”），APP 按接口规则接就行，不用碰核心代码。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780" dirty="0" smtClean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标准化接口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提供接入标准文档，不影响</a:t>
                      </a:r>
                      <a:r>
                        <a:rPr lang="en-US" altLang="zh-CN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APP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核心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业务流程。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80" kern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扫码数据监控缺失，问题定位滞后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charset="0"/>
                          <a:ea typeface="宋体" charset="0"/>
                          <a:cs typeface="宋体" charset="0"/>
                        </a:rPr>
                        <a:t>现在只能等用户反馈 “扫码失败”，但不知道是强光、弱光还是手机型号导致的，也不知道哪个地区、哪个时段失败多；比如之前海外弱光投诉，花了 1 周才查到是原生组件没适配；只有加 “数据埋点”，实时记扫码成功 / 失败、时间、手机型号，才能一有问题就看数据，快速定位原因，不用等用户催。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78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收集与分析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接入数据埋点，实时监控扫码成功</a:t>
                      </a:r>
                      <a:r>
                        <a:rPr lang="zh-CN" altLang="en-US" sz="78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率。</a:t>
                      </a:r>
                      <a:endParaRPr lang="zh-CN" altLang="en-US" sz="78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732" marR="6732" marT="673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8379" y="650778"/>
            <a:ext cx="737364" cy="55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15" b="1">
                <a:latin typeface="微软雅黑" panose="020B0703020204020201" pitchFamily="34" charset="-122"/>
                <a:ea typeface="微软雅黑" panose="020B0703020204020201" pitchFamily="34" charset="-122"/>
              </a:rPr>
              <a:t> </a:t>
            </a:r>
            <a:r>
              <a:rPr lang="zh-CN" altLang="en-US" sz="3015" b="1">
                <a:latin typeface="微软雅黑" panose="020B0703020204020201" pitchFamily="34" charset="-122"/>
                <a:ea typeface="微软雅黑" panose="020B0703020204020201" pitchFamily="34" charset="-122"/>
              </a:rPr>
              <a:t>一</a:t>
            </a:r>
            <a:endParaRPr lang="zh-CN" altLang="en-US" sz="3015" b="1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513" y="708834"/>
            <a:ext cx="7978731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60" b="1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260" b="1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识别（</a:t>
            </a:r>
            <a:r>
              <a:rPr lang="zh-CN" altLang="en-US" sz="2260" b="1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I</a:t>
            </a:r>
            <a:r>
              <a:rPr lang="zh-CN" altLang="en-US" sz="2260" b="1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dentify）</a:t>
            </a:r>
            <a:endParaRPr lang="zh-CN" altLang="en-US" sz="2260" b="1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807" y="1298121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2</a:t>
            </a:r>
            <a:r>
              <a:rPr lang="zh-CN" altLang="en-US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、需求</a:t>
            </a:r>
            <a:r>
              <a:rPr lang="zh-CN" altLang="en-US" b="1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整理</a:t>
            </a:r>
            <a:endParaRPr lang="zh-CN" altLang="en-US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9179" y="1720446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4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亲和图</a:t>
            </a:r>
            <a:endParaRPr lang="zh-CN" altLang="en-US" sz="14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49179" y="2026969"/>
            <a:ext cx="696347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使用亲和图，对原始需求进行提炼、整理和分类，得到初始需求，归类为</a:t>
            </a:r>
            <a:r>
              <a:rPr lang="en-US" altLang="zh-CN" sz="14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3</a:t>
            </a:r>
            <a:r>
              <a:rPr lang="zh-CN" altLang="en-US" sz="14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个类别：</a:t>
            </a:r>
            <a:r>
              <a:rPr lang="zh-CN" altLang="en-US" sz="1400" b="1" dirty="0" smtClean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动态光适应</a:t>
            </a: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、模块化开发与兼容</a:t>
            </a:r>
            <a:r>
              <a:rPr lang="zh-CN" altLang="en-US" sz="14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、数据监控</a:t>
            </a: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。</a:t>
            </a:r>
            <a:endParaRPr lang="en-US" altLang="zh-CN" sz="1400" dirty="0" smtClean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362777" y="3379506"/>
            <a:ext cx="1278890" cy="264933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698435" y="3387761"/>
            <a:ext cx="1278890" cy="264933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5905064" y="3117360"/>
            <a:ext cx="865632" cy="445008"/>
          </a:xfrm>
          <a:prstGeom prst="rect">
            <a:avLst/>
          </a:prstGeom>
          <a:solidFill>
            <a:schemeClr val="accent5">
              <a:alpha val="9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数据监控</a:t>
            </a:r>
            <a:endParaRPr lang="zh-CN" altLang="en-US" sz="100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69406" y="3109105"/>
            <a:ext cx="865632" cy="445008"/>
          </a:xfrm>
          <a:prstGeom prst="rect">
            <a:avLst/>
          </a:prstGeom>
          <a:solidFill>
            <a:schemeClr val="accent5">
              <a:alpha val="9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模块化与兼容</a:t>
            </a:r>
            <a:endParaRPr lang="zh-CN" altLang="en-US" sz="1000" b="1" dirty="0" smtClean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368425" y="3599815"/>
            <a:ext cx="1010920" cy="4406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视频帧预处理</a:t>
            </a:r>
            <a:endParaRPr sz="10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36483" y="3671887"/>
            <a:ext cx="1202795" cy="44500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收集与分析</a:t>
            </a:r>
            <a:endParaRPr lang="zh-CN" altLang="en-US" sz="10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393019" y="4204712"/>
            <a:ext cx="1202795" cy="44500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标准化接口</a:t>
            </a:r>
            <a:endParaRPr lang="zh-CN" altLang="en-US" sz="1000" dirty="0" smtClean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48691" y="2853672"/>
            <a:ext cx="6229349" cy="331852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363980" y="5503545"/>
            <a:ext cx="1014730" cy="419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灰度化</a:t>
            </a:r>
            <a:endParaRPr lang="zh-CN" altLang="en-US" sz="10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234421" y="3387761"/>
            <a:ext cx="1278890" cy="264933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1441050" y="3117360"/>
            <a:ext cx="865632" cy="445008"/>
          </a:xfrm>
          <a:prstGeom prst="rect">
            <a:avLst/>
          </a:prstGeom>
          <a:solidFill>
            <a:schemeClr val="accent5">
              <a:alpha val="9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动态光适应</a:t>
            </a:r>
            <a:endParaRPr lang="zh-CN" altLang="en-US" sz="1000" b="1" dirty="0" smtClean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620329" y="2672091"/>
            <a:ext cx="2865120" cy="2990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多场景扫描增强架构</a:t>
            </a:r>
            <a:endParaRPr lang="en-US" altLang="zh-CN" sz="1000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404449" y="4758604"/>
            <a:ext cx="1202795" cy="44500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自研轻量扫码引擎</a:t>
            </a:r>
            <a:endParaRPr lang="zh-CN" altLang="en-US" sz="10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368425" y="4130675"/>
            <a:ext cx="1010285" cy="3702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色彩优化</a:t>
            </a:r>
            <a:endParaRPr lang="zh-CN" altLang="en-US" sz="10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368425" y="4591050"/>
            <a:ext cx="1010285" cy="3702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曝光优化</a:t>
            </a:r>
            <a:endParaRPr lang="zh-CN" altLang="en-US" sz="1000" dirty="0" smtClean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400824" y="3647503"/>
            <a:ext cx="1202795" cy="44500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独立化模块</a:t>
            </a:r>
            <a:endParaRPr lang="zh-CN" altLang="en-US" sz="1000" dirty="0" smtClean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68425" y="5051425"/>
            <a:ext cx="1010285" cy="3695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sz="10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对比度优化</a:t>
            </a:r>
            <a:endParaRPr sz="1000" dirty="0" smtClean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8379" y="650778"/>
            <a:ext cx="737364" cy="55643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15" b="1">
                <a:latin typeface="微软雅黑" panose="020B0703020204020201" pitchFamily="34" charset="-122"/>
                <a:ea typeface="微软雅黑" panose="020B0703020204020201" pitchFamily="34" charset="-122"/>
              </a:rPr>
              <a:t> </a:t>
            </a:r>
            <a:r>
              <a:rPr lang="zh-CN" altLang="en-US" sz="3015" b="1">
                <a:latin typeface="微软雅黑" panose="020B0703020204020201" pitchFamily="34" charset="-122"/>
                <a:ea typeface="微软雅黑" panose="020B0703020204020201" pitchFamily="34" charset="-122"/>
              </a:rPr>
              <a:t>一</a:t>
            </a:r>
            <a:endParaRPr lang="zh-CN" altLang="en-US" sz="3015" b="1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513" y="708834"/>
            <a:ext cx="7978731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60" b="1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260" b="1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识别（</a:t>
            </a:r>
            <a:r>
              <a:rPr lang="zh-CN" altLang="en-US" sz="2260" b="1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I</a:t>
            </a:r>
            <a:r>
              <a:rPr lang="zh-CN" altLang="en-US" sz="2260" b="1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dentify）</a:t>
            </a:r>
            <a:endParaRPr lang="zh-CN" altLang="en-US" sz="2260" b="1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807" y="1298121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3</a:t>
            </a:r>
            <a:r>
              <a:rPr lang="zh-CN" altLang="en-US" b="1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、需求重要度分析</a:t>
            </a:r>
            <a:endParaRPr lang="zh-CN" altLang="en-US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9179" y="1720446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703020204020201" pitchFamily="34" charset="-122"/>
                <a:ea typeface="微软雅黑" panose="020B0703020204020201" pitchFamily="34" charset="-122"/>
              </a:rPr>
              <a:t>成对比较</a:t>
            </a:r>
            <a:endParaRPr lang="zh-CN" altLang="en-US" sz="14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49179" y="2154141"/>
          <a:ext cx="7734300" cy="23399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1592"/>
                <a:gridCol w="1041617"/>
                <a:gridCol w="571500"/>
                <a:gridCol w="626067"/>
                <a:gridCol w="481855"/>
                <a:gridCol w="481965"/>
                <a:gridCol w="481745"/>
                <a:gridCol w="568698"/>
                <a:gridCol w="457200"/>
                <a:gridCol w="484374"/>
                <a:gridCol w="569777"/>
              </a:tblGrid>
              <a:tr h="183515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需求排序成对比较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F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540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视频帧预处理</a:t>
                      </a:r>
                      <a:endParaRPr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色彩优化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曝光优化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对比度优化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灰度化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独立化模块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标准化接口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 smtClean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自研轻量扫码引擎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收集与分析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视频帧预处理</a:t>
                      </a:r>
                      <a:endParaRPr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色彩优化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A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曝光优化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对比度优化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A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B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灰度化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A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B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D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F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独立化模块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A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B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D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E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G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标准化接口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A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B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D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E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F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H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dirty="0" smtClean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自研轻量扫码引擎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A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B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D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E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F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G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u="none" strike="noStrike" dirty="0"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</a:rPr>
                        <a:t>I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4613" marR="4613" marT="461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800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微软雅黑" panose="020B0703020204020201" pitchFamily="34" charset="-122"/>
                          <a:sym typeface="+mn-ea"/>
                        </a:rPr>
                        <a:t>收集与分析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A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B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C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D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E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F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G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H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703020204020201" pitchFamily="34" charset="-122"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703020204020201" pitchFamily="34" charset="-122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226442" y="4724877"/>
          <a:ext cx="8241061" cy="914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文本框 7"/>
          <p:cNvSpPr txBox="1"/>
          <p:nvPr/>
        </p:nvSpPr>
        <p:spPr bwMode="auto">
          <a:xfrm>
            <a:off x="2067442" y="5678234"/>
            <a:ext cx="4162433" cy="271690"/>
          </a:xfrm>
          <a:prstGeom prst="rect">
            <a:avLst/>
          </a:prstGeom>
          <a:noFill/>
        </p:spPr>
        <p:txBody>
          <a:bodyPr wrap="square" lIns="86182" tIns="43091" rIns="86182" bIns="43091" rtlCol="0">
            <a:spAutoFit/>
          </a:bodyPr>
          <a:lstStyle/>
          <a:p>
            <a:pPr>
              <a:defRPr/>
            </a:pPr>
            <a:r>
              <a:rPr lang="zh-CN" sz="1200" b="1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需求重要度排序</a:t>
            </a:r>
            <a:r>
              <a:rPr lang="zh-CN" sz="1200" b="1" dirty="0" smtClean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：</a:t>
            </a:r>
            <a:r>
              <a:rPr lang="en-US" altLang="zh-CN" sz="1200" b="1" dirty="0" smtClean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C&gt;A&gt;B&gt;D&gt;E&gt;F&gt;G&gt;H&gt;I&gt;J&gt;K&gt;L</a:t>
            </a:r>
            <a:endParaRPr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231952" y="2011191"/>
            <a:ext cx="1939171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86784" tIns="43392" rIns="86784" bIns="43392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4525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开   发</a:t>
            </a:r>
            <a:endParaRPr lang="zh-CN" altLang="en-US" sz="452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08757" y="3232150"/>
            <a:ext cx="2801025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6784" tIns="43392" rIns="86784" bIns="43392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4525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Develop</a:t>
            </a:r>
            <a:endParaRPr lang="en-US" altLang="zh-CN" sz="452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0" y="695325"/>
            <a:ext cx="685800" cy="49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/>
              <a:t>二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5800" y="70485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/>
              <a:t>开发（</a:t>
            </a:r>
            <a:r>
              <a:rPr lang="en-US" altLang="zh-CN" sz="2400" b="1" dirty="0">
                <a:solidFill>
                  <a:srgbClr val="FF0000"/>
                </a:solidFill>
              </a:rPr>
              <a:t>D</a:t>
            </a:r>
            <a:r>
              <a:rPr lang="en-US" altLang="zh-CN" sz="2400" dirty="0"/>
              <a:t>evelop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63270" y="1294177"/>
            <a:ext cx="817623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 smtClean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1</a:t>
            </a:r>
            <a:r>
              <a:rPr lang="zh-CN" altLang="en-US" dirty="0" smtClean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、功能分析</a:t>
            </a:r>
            <a:endParaRPr lang="zh-CN" altLang="en-US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447750" y="1808410"/>
            <a:ext cx="8216749" cy="307777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14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FAST</a:t>
            </a:r>
            <a:r>
              <a:rPr lang="zh-CN" altLang="en-US" sz="1400" dirty="0" smtClean="0">
                <a:latin typeface="微软雅黑" panose="020B0703020204020201" pitchFamily="34" charset="-122"/>
                <a:ea typeface="微软雅黑" panose="020B0703020204020201" pitchFamily="34" charset="-122"/>
              </a:rPr>
              <a:t>分析：对产品功能进行分解，从需要实现的功能到如何实现进行层层深入分析。</a:t>
            </a:r>
            <a:endParaRPr lang="zh-CN" altLang="en-US" sz="140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pic>
        <p:nvPicPr>
          <p:cNvPr id="9" name="图片 8" descr="fast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05" y="2262505"/>
            <a:ext cx="6550025" cy="36429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56010" y="1549345"/>
            <a:ext cx="364119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buFont typeface="Wingdings" panose="05000000000000000000" charset="0"/>
              <a:buChar char="p"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功能定义与概念设计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56845" y="1804035"/>
          <a:ext cx="8407400" cy="4341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620"/>
                <a:gridCol w="494030"/>
                <a:gridCol w="613410"/>
                <a:gridCol w="1104900"/>
                <a:gridCol w="989330"/>
                <a:gridCol w="481965"/>
                <a:gridCol w="4208145"/>
              </a:tblGrid>
              <a:tr h="4660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30" b="1" dirty="0">
                          <a:solidFill>
                            <a:srgbClr val="000000"/>
                          </a:solidFill>
                          <a:ea typeface="微软雅黑" panose="020B0703020204020201" pitchFamily="34" charset="-122"/>
                        </a:rPr>
                        <a:t>功能编号</a:t>
                      </a:r>
                      <a:endParaRPr lang="zh-CN" altLang="en-US" sz="1130" b="1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30" b="1" dirty="0">
                          <a:solidFill>
                            <a:srgbClr val="000000"/>
                          </a:solidFill>
                          <a:ea typeface="微软雅黑" panose="020B0703020204020201" pitchFamily="34" charset="-122"/>
                        </a:rPr>
                        <a:t>一级功能</a:t>
                      </a:r>
                      <a:endParaRPr lang="zh-CN" altLang="en-US" sz="1130" b="1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30" b="1" dirty="0">
                          <a:solidFill>
                            <a:srgbClr val="000000"/>
                          </a:solidFill>
                          <a:ea typeface="微软雅黑" panose="020B0703020204020201" pitchFamily="34" charset="-122"/>
                        </a:rPr>
                        <a:t>二级功能</a:t>
                      </a:r>
                      <a:endParaRPr lang="zh-CN" altLang="en-US" sz="1130" b="1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30" b="1" dirty="0">
                          <a:solidFill>
                            <a:srgbClr val="000000"/>
                          </a:solidFill>
                          <a:ea typeface="微软雅黑" panose="020B0703020204020201" pitchFamily="34" charset="-122"/>
                        </a:rPr>
                        <a:t>三级功能</a:t>
                      </a:r>
                      <a:endParaRPr lang="zh-CN" altLang="en-US" sz="1130" b="1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30" b="1" dirty="0">
                          <a:solidFill>
                            <a:srgbClr val="000000"/>
                          </a:solidFill>
                          <a:ea typeface="微软雅黑" panose="020B0703020204020201" pitchFamily="34" charset="-122"/>
                        </a:rPr>
                        <a:t>四级功能</a:t>
                      </a:r>
                      <a:endParaRPr lang="zh-CN" altLang="en-US" sz="1130" b="1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30" b="1" dirty="0">
                          <a:solidFill>
                            <a:srgbClr val="000000"/>
                          </a:solidFill>
                          <a:ea typeface="微软雅黑" panose="020B0703020204020201" pitchFamily="34" charset="-122"/>
                        </a:rPr>
                        <a:t>需求跟踪</a:t>
                      </a:r>
                      <a:endParaRPr lang="zh-CN" altLang="en-US" sz="1130" b="1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30" b="1" dirty="0">
                          <a:solidFill>
                            <a:srgbClr val="000000"/>
                          </a:solidFill>
                          <a:ea typeface="微软雅黑" panose="020B0703020204020201" pitchFamily="34" charset="-122"/>
                        </a:rPr>
                        <a:t>概念设计</a:t>
                      </a:r>
                      <a:endParaRPr lang="zh-CN" altLang="en-US" sz="1130" b="1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AAAA"/>
                    </a:solidFill>
                  </a:tcPr>
                </a:tc>
              </a:tr>
              <a:tr h="236855">
                <a:tc rowSpan="1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30" b="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Fun01_</a:t>
                      </a:r>
                      <a:r>
                        <a:rPr lang="en-US" altLang="zh-CN" sz="1130" b="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CS</a:t>
                      </a:r>
                      <a:endParaRPr lang="en-US" altLang="en-US" sz="1130" b="0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4">
                  <a:txBody>
                    <a:bodyPr/>
                    <a:lstStyle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多场景扫描增强架构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动态光适应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视频帧预处理</a:t>
                      </a:r>
                      <a:endParaRPr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视频帧管理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30" b="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R1.1</a:t>
                      </a:r>
                      <a:endParaRPr lang="en-US" altLang="en-US" sz="1130" b="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sz="80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方案 1：通过坐标映射裁剪二维码 ROI 区域（减少无效像素处理），支撑 R1.1 “增强识别能力”。</a:t>
                      </a:r>
                      <a:endParaRPr sz="80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30" b="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R1.2</a:t>
                      </a:r>
                      <a:endParaRPr lang="en-US" altLang="en-US" sz="1130" b="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sz="80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方案 1（强光场景）：亮度降低 - 0.2（基于 1000nit 强光测试，该参数可避免白块过饱和），饱和度保持 1.0；</a:t>
                      </a:r>
                      <a:endParaRPr sz="80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sz="80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方案 2（弱光场景）：亮度提升 0.35、饱和度降低 0.8（解决≤50lux 下色彩暗淡问题，测试验证：色彩干扰减少 40%）。</a:t>
                      </a:r>
                      <a:endParaRPr sz="80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855"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色彩优化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饱和度、亮度调整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30" b="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R1.3</a:t>
                      </a:r>
                      <a:endParaRPr lang="en-US" altLang="en-US" sz="1130" b="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indent="0">
                        <a:buNone/>
                      </a:pPr>
                      <a:r>
                        <a:rPr sz="80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方案 1（强光场景）：曝光量降低 - 0.3EV（规避过曝导致的黑白块反差消失；</a:t>
                      </a:r>
                      <a:endParaRPr sz="80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sz="80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方案 2（弱光场景）：曝光量提升 0.7EV（温和提亮，避免噪点激增，极端弱光≤10lux 时需配合补光逻辑）。</a:t>
                      </a:r>
                      <a:endParaRPr sz="80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曝光优化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强光減弱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弱光增加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86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对比度优化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动态调整对比度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30" b="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R1.4</a:t>
                      </a:r>
                      <a:endParaRPr lang="en-US" sz="1130" b="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sz="80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方案 1（强光场景）：对比度提升 1.2 倍（增强光线层次，使黑块灰度值降低 15%）；</a:t>
                      </a:r>
                      <a:endParaRPr sz="80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  <a:p>
                      <a:pPr indent="0">
                        <a:buNone/>
                      </a:pPr>
                      <a:r>
                        <a:rPr sz="80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方案 2（弱光场景）：对比度提升 1.4 倍（避免暗部细节丢失，测试验证：弱光下边界识别率提升 35%）。</a:t>
                      </a:r>
                      <a:endParaRPr sz="80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灰度化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转为灰度图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30" b="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R1.5</a:t>
                      </a:r>
                      <a:endParaRPr lang="en-US" altLang="en-US" sz="1130" b="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方案 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1</a:t>
                      </a:r>
                      <a:r>
                        <a:rPr sz="8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：采用 RGB 通道 0.299:0.587:0.114 标准加权计算灰度值，后续通过 Otsu 自适应二值化处理（将灰度图转为黑白二值图，消除色彩干扰，解决 “色彩偏差导致识别失败” 的痛点）。</a:t>
                      </a:r>
                      <a:endParaRPr sz="800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930">
                <a:tc vMerge="1">
                  <a:tcPr/>
                </a:tc>
                <a:tc vMerge="1">
                  <a:tcPr/>
                </a:tc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模块化与兼容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独立化模块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库封装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30" b="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R2.1</a:t>
                      </a:r>
                      <a:endParaRPr lang="en-US" altLang="en-US" sz="1130" b="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800" b="0" kern="12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方案 1：封装跨平台 Framework，创建独立命名空间 （避免与现有组件命名冲突）；</a:t>
                      </a:r>
                      <a:endParaRPr sz="800" b="0" kern="1200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890">
                <a:tc vMerge="1">
                  <a:tcPr/>
                </a:tc>
                <a:tc vMerge="1">
                  <a:tcPr/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资源隔离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85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标准化接口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接口定义和示例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130" b="0" kern="120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R2.2</a:t>
                      </a:r>
                      <a:endParaRPr lang="en-US" altLang="zh-CN" sz="1130" b="0" kern="120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 kern="12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方案</a:t>
                      </a:r>
                      <a:r>
                        <a:rPr lang="en-US" altLang="zh-CN" sz="800" b="0" kern="12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1:</a:t>
                      </a:r>
                      <a:r>
                        <a:rPr lang="zh-CN" altLang="en-US" sz="800" b="0" kern="12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定义全流程标准接口，附调用示例。</a:t>
                      </a:r>
                      <a:endParaRPr lang="zh-CN" altLang="en-US" sz="800" b="0" kern="1200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130" b="0" kern="120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R2.3</a:t>
                      </a:r>
                      <a:endParaRPr lang="en-US" altLang="zh-CN" sz="1130" b="0" kern="120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 algn="l" rtl="0" fontAlgn="ctr"/>
                      <a:r>
                        <a:rPr sz="8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方案1：基于系统框架二次开发、资源压缩实现安装包体积 &lt; 1M（满足 “体积小” 需求）。</a:t>
                      </a:r>
                      <a:endParaRPr sz="800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自研轻量扫码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引擎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体积小且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免费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85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数据监控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收集与分析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用户行为记录和分析</a:t>
                      </a:r>
                      <a:endParaRPr sz="90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30" b="0" dirty="0">
                          <a:solidFill>
                            <a:srgbClr val="0000FF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R3.1</a:t>
                      </a:r>
                      <a:endParaRPr lang="en-US" altLang="en-US" sz="1130" b="0" dirty="0">
                        <a:solidFill>
                          <a:srgbClr val="0000FF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sz="800" dirty="0">
                          <a:solidFill>
                            <a:srgbClr val="000000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方案 1：扫码数据（用户 ID、机型、扫码时间、结果）传输至后台，支撑问题定位与算法优化。</a:t>
                      </a:r>
                      <a:endParaRPr sz="800" dirty="0">
                        <a:solidFill>
                          <a:srgbClr val="000000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39923" y="1274540"/>
            <a:ext cx="3283901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2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、子系统设计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99" y="871170"/>
            <a:ext cx="2916464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8862" y="1460879"/>
            <a:ext cx="4561348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4.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技术架构设计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1594423" y="2208930"/>
            <a:ext cx="5683684" cy="1160263"/>
          </a:xfrm>
          <a:prstGeom prst="roundRect">
            <a:avLst>
              <a:gd name="adj" fmla="val 637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业务层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563270" y="5684460"/>
            <a:ext cx="5683684" cy="530566"/>
          </a:xfrm>
          <a:prstGeom prst="roundRect">
            <a:avLst>
              <a:gd name="adj" fmla="val 9314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APP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系统层</a:t>
            </a:r>
            <a:r>
              <a:rPr lang="en-US" altLang="zh-CN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  </a:t>
            </a:r>
            <a:endParaRPr lang="en-US" altLang="zh-CN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1563273" y="4084035"/>
            <a:ext cx="5683681" cy="526331"/>
          </a:xfrm>
          <a:prstGeom prst="roundRect">
            <a:avLst>
              <a:gd name="adj" fmla="val 194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光适应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层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814953" y="4216933"/>
            <a:ext cx="1043636" cy="29901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曝光优化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576344" y="4877742"/>
            <a:ext cx="5683681" cy="568804"/>
          </a:xfrm>
          <a:prstGeom prst="roundRect">
            <a:avLst>
              <a:gd name="adj" fmla="val 194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APP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服务层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39899" y="871170"/>
            <a:ext cx="2916464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13168" y="5017765"/>
            <a:ext cx="1303691" cy="29651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视频捕获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03163" y="4216933"/>
            <a:ext cx="1043636" cy="29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灰度化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90675" y="3619537"/>
            <a:ext cx="1679143" cy="2692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原生功能逻辑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5030" y="2915920"/>
            <a:ext cx="124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强光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环境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17875" y="2889885"/>
            <a:ext cx="990600" cy="42799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弱光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环境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cxnSp>
        <p:nvCxnSpPr>
          <p:cNvPr id="12" name="直线箭头连接符 11"/>
          <p:cNvCxnSpPr>
            <a:endCxn id="10" idx="0"/>
          </p:cNvCxnSpPr>
          <p:nvPr/>
        </p:nvCxnSpPr>
        <p:spPr>
          <a:xfrm flipH="1">
            <a:off x="3812973" y="2737061"/>
            <a:ext cx="13" cy="153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2433955" y="2268855"/>
            <a:ext cx="4238625" cy="468630"/>
          </a:xfrm>
          <a:prstGeom prst="roundRect">
            <a:avLst>
              <a:gd name="adj" fmla="val 194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019425" y="2304415"/>
            <a:ext cx="1133475" cy="38163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扫描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二维码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0610" y="2304415"/>
            <a:ext cx="1133475" cy="38163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扫描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条形码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cxnSp>
        <p:nvCxnSpPr>
          <p:cNvPr id="25" name="直线箭头连接符 24"/>
          <p:cNvCxnSpPr/>
          <p:nvPr/>
        </p:nvCxnSpPr>
        <p:spPr>
          <a:xfrm flipH="1">
            <a:off x="5214536" y="2764047"/>
            <a:ext cx="13" cy="153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下箭头 25"/>
          <p:cNvSpPr/>
          <p:nvPr/>
        </p:nvSpPr>
        <p:spPr>
          <a:xfrm rot="10800000">
            <a:off x="4515298" y="3401299"/>
            <a:ext cx="169476" cy="1899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95"/>
          </a:p>
        </p:txBody>
      </p:sp>
      <p:sp>
        <p:nvSpPr>
          <p:cNvPr id="27" name="矩形 26"/>
          <p:cNvSpPr/>
          <p:nvPr/>
        </p:nvSpPr>
        <p:spPr>
          <a:xfrm>
            <a:off x="2670533" y="4227198"/>
            <a:ext cx="1043636" cy="28875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色彩优化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72155" y="1873474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27330">
              <a:buFont typeface="Wingdings" panose="05000000000000000000" pitchFamily="2" charset="2"/>
              <a:buChar char="p"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技术架构搭建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9" name="下箭头 28"/>
          <p:cNvSpPr/>
          <p:nvPr/>
        </p:nvSpPr>
        <p:spPr>
          <a:xfrm rot="10800000">
            <a:off x="4527037" y="4640961"/>
            <a:ext cx="169476" cy="1899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95"/>
          </a:p>
        </p:txBody>
      </p:sp>
      <p:sp>
        <p:nvSpPr>
          <p:cNvPr id="34" name="下箭头 33"/>
          <p:cNvSpPr/>
          <p:nvPr/>
        </p:nvSpPr>
        <p:spPr>
          <a:xfrm rot="10800000">
            <a:off x="4540642" y="5468462"/>
            <a:ext cx="169476" cy="1899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95"/>
          </a:p>
        </p:txBody>
      </p:sp>
      <p:sp>
        <p:nvSpPr>
          <p:cNvPr id="5" name="下箭头 4"/>
          <p:cNvSpPr/>
          <p:nvPr/>
        </p:nvSpPr>
        <p:spPr>
          <a:xfrm rot="10800000">
            <a:off x="4526231" y="3896281"/>
            <a:ext cx="169476" cy="1899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95"/>
          </a:p>
        </p:txBody>
      </p:sp>
      <p:sp>
        <p:nvSpPr>
          <p:cNvPr id="2" name="矩形 1"/>
          <p:cNvSpPr/>
          <p:nvPr/>
        </p:nvSpPr>
        <p:spPr>
          <a:xfrm>
            <a:off x="4959372" y="4217921"/>
            <a:ext cx="1043636" cy="29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对比度优化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10728" y="5843265"/>
            <a:ext cx="1303691" cy="29651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相机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服务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10193" y="4998715"/>
            <a:ext cx="1303691" cy="29651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视频帧</a:t>
            </a:r>
            <a:r>
              <a:rPr lang="zh-CN" altLang="en-US" sz="1320" dirty="0">
                <a:solidFill>
                  <a:schemeClr val="tx1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预处理</a:t>
            </a:r>
            <a:endParaRPr lang="zh-CN" altLang="en-US" sz="1320" dirty="0">
              <a:solidFill>
                <a:schemeClr val="tx1"/>
              </a:solidFill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6367" y="1451710"/>
            <a:ext cx="4561348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5.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技术架构设计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348396" y="2310732"/>
          <a:ext cx="7930515" cy="2941955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661035"/>
                <a:gridCol w="1684020"/>
                <a:gridCol w="2646680"/>
                <a:gridCol w="1642745"/>
                <a:gridCol w="1296035"/>
              </a:tblGrid>
              <a:tr h="4660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320" dirty="0">
                        <a:latin typeface="+mn-ea"/>
                        <a:ea typeface="+mn-ea"/>
                      </a:endParaRPr>
                    </a:p>
                  </a:txBody>
                  <a:tcPr marL="64636" marR="64636" marT="32318" marB="3231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+mn-ea"/>
                          <a:ea typeface="+mn-ea"/>
                        </a:rPr>
                        <a:t>项目</a:t>
                      </a:r>
                      <a:endParaRPr lang="zh-CN" altLang="en-US" sz="1320" dirty="0">
                        <a:latin typeface="+mn-ea"/>
                        <a:ea typeface="+mn-ea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+mn-ea"/>
                          <a:ea typeface="+mn-ea"/>
                        </a:rPr>
                        <a:t>可选技术选型</a:t>
                      </a:r>
                      <a:endParaRPr lang="zh-CN" altLang="en-US" sz="1320" dirty="0">
                        <a:latin typeface="+mn-ea"/>
                        <a:ea typeface="+mn-ea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+mn-ea"/>
                          <a:ea typeface="+mn-ea"/>
                        </a:rPr>
                        <a:t>最佳选择</a:t>
                      </a:r>
                      <a:endParaRPr lang="zh-CN" altLang="en-US" sz="1320" dirty="0">
                        <a:latin typeface="+mn-ea"/>
                        <a:ea typeface="+mn-ea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+mn-ea"/>
                          <a:ea typeface="+mn-ea"/>
                        </a:rPr>
                        <a:t>是否需重点论证</a:t>
                      </a:r>
                      <a:endParaRPr lang="zh-CN" altLang="en-US" sz="1320" dirty="0">
                        <a:latin typeface="+mn-ea"/>
                        <a:ea typeface="+mn-ea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</a:t>
                      </a:r>
                      <a:endParaRPr lang="en-US" altLang="zh-CN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原生架构模式</a:t>
                      </a:r>
                      <a:endParaRPr lang="zh-CN" altLang="en-US" sz="113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MVC/MVVM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MVVM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否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</a:t>
                      </a:r>
                      <a:endParaRPr lang="en-US" altLang="zh-CN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技术架构</a:t>
                      </a:r>
                      <a:endParaRPr lang="zh-CN" altLang="en-US" sz="1130" dirty="0">
                        <a:solidFill>
                          <a:schemeClr val="tx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组件化</a:t>
                      </a:r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模块化</a:t>
                      </a:r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耦合化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组件化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</a:t>
                      </a:r>
                      <a:endParaRPr lang="en-US" altLang="zh-CN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数据存储服务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Sqlite3/</a:t>
                      </a:r>
                      <a:r>
                        <a:rPr lang="en-US" altLang="zh-CN" sz="1130" dirty="0" err="1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Coredata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Sqlite3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否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4</a:t>
                      </a:r>
                      <a:endParaRPr lang="en-US" altLang="zh-CN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IOS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OC/Swift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Swift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否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4636" marR="64636" marT="32318" marB="323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39899" y="871170"/>
            <a:ext cx="2916464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2155" y="1873474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27330">
              <a:buFont typeface="Wingdings" panose="05000000000000000000" pitchFamily="2" charset="2"/>
              <a:buChar char="p"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技术选型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2555" y="2365747"/>
          <a:ext cx="7972425" cy="3545205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889000"/>
                <a:gridCol w="4220210"/>
                <a:gridCol w="2863215"/>
              </a:tblGrid>
              <a:tr h="4057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序号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开发任务项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依赖项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扫一扫界面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渲染开发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无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视频帧预处理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</a:t>
                      </a:r>
                      <a:endParaRPr lang="en-US" altLang="zh-CN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色彩属性调节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、</a:t>
                      </a:r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</a:t>
                      </a:r>
                      <a:endParaRPr lang="en-US" altLang="zh-CN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4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曝光优化</a:t>
                      </a:r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开发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2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5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对比度优化开发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2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6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灰度化处理适配</a:t>
                      </a:r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开发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2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7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独立化模块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无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8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标准化接口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无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30545" y="1479213"/>
            <a:ext cx="4561348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6.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任务拆解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3842" y="190097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buFont typeface="Wingdings" panose="05000000000000000000" pitchFamily="2" charset="2"/>
              <a:buChar char="p"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功能架构设计：</a:t>
            </a: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</a:rPr>
              <a:t>开发任务依赖关系分析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9899" y="871170"/>
            <a:ext cx="2916464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39227" y="2384079"/>
          <a:ext cx="7969250" cy="264033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888365"/>
                <a:gridCol w="4218940"/>
                <a:gridCol w="2861945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序号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开发任务项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依赖项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9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3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自研轻量扫码引擎</a:t>
                      </a:r>
                      <a:endParaRPr lang="zh-CN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无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收集与分析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无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21377" y="1442539"/>
            <a:ext cx="4561348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7.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任务拆解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4671" y="1873474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buFont typeface="Wingdings" panose="05000000000000000000" pitchFamily="2" charset="2"/>
              <a:buChar char="p"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功能架构设计：</a:t>
            </a: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</a:rPr>
              <a:t>开发任务依赖关系分析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9899" y="871170"/>
            <a:ext cx="2916464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552963" y="4024219"/>
            <a:ext cx="751605" cy="4387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开发难度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806812" y="3969710"/>
            <a:ext cx="6573685" cy="6432"/>
          </a:xfrm>
          <a:prstGeom prst="line">
            <a:avLst/>
          </a:prstGeom>
          <a:ln w="19050"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150313" y="2375624"/>
            <a:ext cx="42360" cy="3299883"/>
          </a:xfrm>
          <a:prstGeom prst="line">
            <a:avLst/>
          </a:prstGeom>
          <a:ln w="19050"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649997" y="4485255"/>
            <a:ext cx="2032023" cy="87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7.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独立化模块开发</a:t>
            </a:r>
            <a:b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</a:br>
            <a:r>
              <a:rPr lang="en-US" altLang="zh-CN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8.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标准化接口开发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10.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收集与分析</a:t>
            </a:r>
            <a:endParaRPr 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38755" y="2812410"/>
            <a:ext cx="1820738" cy="87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4.</a:t>
            </a:r>
            <a:r>
              <a:rPr lang="zh-CN" altLang="en-US" sz="1130" dirty="0">
                <a:solidFill>
                  <a:schemeClr val="dk1"/>
                </a:solidFill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曝光优化开发</a:t>
            </a:r>
            <a:endParaRPr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5.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对比度优化开发</a:t>
            </a:r>
            <a:endParaRPr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6.</a:t>
            </a:r>
            <a:r>
              <a:rPr lang="zh-CN" altLang="en-US" sz="1130" dirty="0">
                <a:solidFill>
                  <a:schemeClr val="dk1"/>
                </a:solidFill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灰度化处理适配开发</a:t>
            </a:r>
            <a:endParaRPr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38755" y="4354718"/>
            <a:ext cx="2175830" cy="61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9.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自研轻量扫码引擎</a:t>
            </a:r>
            <a:endParaRPr lang="zh-CN" sz="1130" dirty="0">
              <a:latin typeface="微软雅黑" panose="020B0703020204020201" pitchFamily="34" charset="-122"/>
              <a:ea typeface="微软雅黑" panose="020B0703020204020201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2.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视频帧预处理开发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1424" y="2875675"/>
            <a:ext cx="2129168" cy="61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1.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扫一扫界面渲染开发</a:t>
            </a:r>
            <a:endParaRPr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  <a:p>
            <a:pPr>
              <a:lnSpc>
                <a:spcPct val="150000"/>
              </a:lnSpc>
            </a:pPr>
            <a:r>
              <a:rPr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3.</a:t>
            </a:r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色彩属性调节开发</a:t>
            </a:r>
            <a:endParaRPr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73322" y="3660058"/>
            <a:ext cx="272415" cy="2647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1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873322" y="4029361"/>
            <a:ext cx="272415" cy="2647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4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20179" y="3660058"/>
            <a:ext cx="272415" cy="2647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2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20179" y="4029361"/>
            <a:ext cx="272415" cy="2647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3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8050" y="1451708"/>
            <a:ext cx="4561348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8.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任务拆解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18850" y="1882643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buFont typeface="Wingdings" panose="05000000000000000000" pitchFamily="2" charset="2"/>
              <a:buChar char="p"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</a:rPr>
              <a:t>开发任务重要性及难易程度分析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845290" y="2457182"/>
            <a:ext cx="190447" cy="612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30" dirty="0">
                <a:latin typeface="微软雅黑" panose="020B0703020204020201" pitchFamily="34" charset="-122"/>
                <a:ea typeface="微软雅黑" panose="020B0703020204020201" pitchFamily="34" charset="-122"/>
              </a:rPr>
              <a:t>重要性</a:t>
            </a:r>
            <a:endParaRPr lang="zh-CN" altLang="en-US" sz="113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9899" y="871170"/>
            <a:ext cx="2916464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11723" y="2301564"/>
          <a:ext cx="7966710" cy="343789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763905"/>
                <a:gridCol w="4567555"/>
                <a:gridCol w="2635250"/>
              </a:tblGrid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序号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开发任务项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2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开发周期</a:t>
                      </a:r>
                      <a:endParaRPr lang="zh-CN" altLang="en-US" sz="132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</a:tr>
              <a:tr h="7791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1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扫一扫界面渲染开发</a:t>
                      </a:r>
                      <a:r>
                        <a:rPr 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、</a:t>
                      </a: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视频帧预处理开发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6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2025.06.01-2025.06.20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2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色彩属性调节开发、. 曝光优化开发、对比度优化开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6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2025.06.21-2025.07.10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3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灰度化处理适配开发、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独立化模块开发</a:t>
                      </a:r>
                      <a:r>
                        <a:rPr lang="zh-CN" altLang="en-US" sz="1130" kern="1200" dirty="0">
                          <a:solidFill>
                            <a:schemeClr val="dk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、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标准化接口开发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6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2025.07.11-2025.07.20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7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4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30" dirty="0">
                          <a:solidFill>
                            <a:schemeClr val="tx1"/>
                          </a:solidFill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自研轻量扫码引擎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、收集与分析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6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30" kern="1200" dirty="0">
                          <a:solidFill>
                            <a:schemeClr val="dk1"/>
                          </a:solidFill>
                          <a:effectLst/>
                          <a:latin typeface="微软雅黑" panose="020B0703020204020201" pitchFamily="34" charset="-122"/>
                          <a:ea typeface="微软雅黑" panose="020B0703020204020201" pitchFamily="34" charset="-122"/>
                          <a:cs typeface="+mn-cs"/>
                        </a:rPr>
                        <a:t>2025.07.20-2025.07.30</a:t>
                      </a:r>
                      <a:endParaRPr lang="zh-CN" altLang="en-US" sz="1130" kern="1200" dirty="0">
                        <a:solidFill>
                          <a:schemeClr val="dk1"/>
                        </a:solidFill>
                        <a:effectLst/>
                        <a:latin typeface="微软雅黑" panose="020B0703020204020201" pitchFamily="34" charset="-122"/>
                        <a:ea typeface="微软雅黑" panose="020B0703020204020201" pitchFamily="34" charset="-122"/>
                        <a:cs typeface="+mn-cs"/>
                      </a:endParaRPr>
                    </a:p>
                  </a:txBody>
                  <a:tcPr marL="68573" marR="68573" marT="34287" marB="34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75535" y="1415035"/>
            <a:ext cx="4561348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9.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任务拆解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9663" y="1827632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buFont typeface="Wingdings" panose="05000000000000000000" pitchFamily="2" charset="2"/>
              <a:buChar char="p"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</a:rPr>
              <a:t>开发计划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9899" y="871170"/>
            <a:ext cx="2916464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0080" y="871220"/>
            <a:ext cx="6245225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视频帧预处理</a:t>
            </a:r>
            <a:endParaRPr lang="en-US" altLang="zh-CN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676" y="142579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" y="1416050"/>
            <a:ext cx="8258810" cy="57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一、需求追溯</a:t>
            </a:r>
            <a:br>
              <a:rPr lang="zh-CN" altLang="en-US" sz="1200" b="1"/>
            </a:br>
            <a:r>
              <a:rPr lang="zh-CN" altLang="en-US" sz="1200"/>
              <a:t>支撑 R1.1 “增强强弱光下扫码识别能力”，对应概念设计中 “视频帧预处理” 功能（裁剪二维码 ROI 区域，减少无效像素处理）</a:t>
            </a:r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114300" y="1994535"/>
            <a:ext cx="8258810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二、方案</a:t>
            </a:r>
            <a:r>
              <a:rPr lang="zh-CN" altLang="en-US" sz="1200" b="1">
                <a:sym typeface="+mn-ea"/>
              </a:rPr>
              <a:t>设计</a:t>
            </a:r>
            <a:endParaRPr lang="zh-CN" altLang="en-US" sz="1200" b="1"/>
          </a:p>
          <a:p>
            <a:r>
              <a:rPr lang="zh-CN" altLang="en-US" sz="1200">
                <a:sym typeface="+mn-ea"/>
              </a:rPr>
              <a:t>ROI 区域裁剪</a:t>
            </a:r>
            <a:r>
              <a:rPr lang="zh-CN" altLang="en-US" sz="1200">
                <a:sym typeface="+mn-ea"/>
              </a:rPr>
              <a:t>：坐标转换公式，ROI像素坐标X = 扫码框原点X / 屏幕宽度 × 视频帧宽度，同理计算 Y、宽、高</a:t>
            </a:r>
            <a:endParaRPr lang="zh-CN" altLang="en-US" sz="12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300" y="2499360"/>
            <a:ext cx="825881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三、实现</a:t>
            </a:r>
            <a:r>
              <a:rPr lang="zh-CN" altLang="en-US" sz="1200" b="1"/>
              <a:t>流程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114300" y="3905250"/>
            <a:ext cx="1297940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114300" y="4286885"/>
            <a:ext cx="8054975" cy="106489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CGRect scanFrame = self.scanRect.frame;</a:t>
            </a:r>
            <a:endParaRPr sz="1000"/>
          </a:p>
          <a:p>
            <a:pPr algn="l"/>
            <a:r>
              <a:rPr sz="1000"/>
              <a:t>CGSize frameRes = CGSizeMake(1920, 1080); // 参考概念设计分辨率</a:t>
            </a:r>
            <a:endParaRPr sz="1000"/>
          </a:p>
          <a:p>
            <a:pPr algn="l"/>
            <a:r>
              <a:rPr sz="1000"/>
              <a:t>_cropX = scanFrame.origin.y / screenH * frameRes.width;</a:t>
            </a:r>
            <a:endParaRPr sz="1000"/>
          </a:p>
          <a:p>
            <a:pPr algn="l"/>
            <a:r>
              <a:rPr sz="1000"/>
              <a:t>_cropY = (screenW - scanFrame.origin.x - scanFrame.size.width) / screenW * frameRes.height;</a:t>
            </a:r>
            <a:endParaRPr sz="1000"/>
          </a:p>
          <a:p>
            <a:pPr algn="l"/>
            <a:r>
              <a:rPr sz="1000"/>
              <a:t>CVImageBufferRef imgBuf = CMSampleBufferGetImageBuffer(sampleBuffer);</a:t>
            </a:r>
            <a:endParaRPr sz="1000"/>
          </a:p>
          <a:p>
            <a:pPr algn="l"/>
            <a:r>
              <a:rPr sz="1000"/>
              <a:t>return [self createCropBuffer:imgBuf x:_cropX y:_cropY w:_cropW h:_cropH];</a:t>
            </a:r>
            <a:endParaRPr sz="1000"/>
          </a:p>
        </p:txBody>
      </p:sp>
      <p:pic>
        <p:nvPicPr>
          <p:cNvPr id="3" name="图片 2" descr="未命名绘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2915920"/>
            <a:ext cx="7863840" cy="8597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0080" y="871220"/>
            <a:ext cx="6245225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色彩优化 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676" y="142579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" y="1416050"/>
            <a:ext cx="8258810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一、需求追溯</a:t>
            </a:r>
            <a:br>
              <a:rPr lang="zh-CN" altLang="en-US" sz="1200" b="1"/>
            </a:br>
            <a:r>
              <a:rPr sz="1200"/>
              <a:t>支撑 R1.1 “增强强弱光下扫码识别能力”，对应概念设计中 “曝光优化” 功能（强光减曝、弱光增曝）</a:t>
            </a:r>
            <a:endParaRPr sz="1200"/>
          </a:p>
        </p:txBody>
      </p:sp>
      <p:sp>
        <p:nvSpPr>
          <p:cNvPr id="17" name="文本框 16"/>
          <p:cNvSpPr txBox="1"/>
          <p:nvPr/>
        </p:nvSpPr>
        <p:spPr>
          <a:xfrm>
            <a:off x="114300" y="1889760"/>
            <a:ext cx="825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二、方案</a:t>
            </a:r>
            <a:r>
              <a:rPr lang="zh-CN" altLang="en-US" sz="1200" b="1">
                <a:sym typeface="+mn-ea"/>
              </a:rPr>
              <a:t>设计</a:t>
            </a:r>
            <a:endParaRPr lang="zh-CN" altLang="en-US" sz="1200" b="1"/>
          </a:p>
          <a:p>
            <a:r>
              <a:rPr lang="zh-CN" altLang="en-US" sz="1200">
                <a:sym typeface="+mn-ea"/>
              </a:rPr>
              <a:t>通过光线传感器 + 相机曝光值双重判定（参考概念设计阈值），强光：曝光量 - 0.3EV（规避过曝），弱光：曝光量 + 0.7EV（温和提亮）。</a:t>
            </a:r>
            <a:endParaRPr lang="zh-CN" altLang="en-US" sz="12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300" y="2569210"/>
            <a:ext cx="825881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三、实现</a:t>
            </a:r>
            <a:r>
              <a:rPr lang="zh-CN" altLang="en-US" sz="1200" b="1"/>
              <a:t>流程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114300" y="4679315"/>
            <a:ext cx="1303655" cy="232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61595" y="5013325"/>
            <a:ext cx="7141210" cy="115887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AVCaptureDevice *device = [AVCaptureDevice defaultDeviceWithMediaType:AVMediaTypeVideo];</a:t>
            </a:r>
            <a:endParaRPr sz="1000"/>
          </a:p>
          <a:p>
            <a:pPr algn="l"/>
            <a:r>
              <a:rPr sz="1000"/>
              <a:t>[device lockForConfiguration:nil];</a:t>
            </a:r>
            <a:endParaRPr sz="1000"/>
          </a:p>
          <a:p>
            <a:pPr algn="l"/>
            <a:r>
              <a:rPr sz="1000"/>
              <a:t>CGFloat ev = (lightIntensity≥1000) ? -0.3 : (lightIntensity≤50 ? 0.7 : 0);</a:t>
            </a:r>
            <a:endParaRPr sz="1000"/>
          </a:p>
          <a:p>
            <a:pPr algn="l"/>
            <a:r>
              <a:rPr sz="1000"/>
              <a:t>[device setExposureTargetBias:ev completionHandler:nil];</a:t>
            </a:r>
            <a:endParaRPr sz="1000"/>
          </a:p>
          <a:p>
            <a:pPr algn="l"/>
            <a:r>
              <a:rPr sz="1000"/>
              <a:t>if (lightIntensity≤10) [device setTorchLevel:0.3]; // 30%补光</a:t>
            </a:r>
            <a:endParaRPr sz="1000"/>
          </a:p>
          <a:p>
            <a:pPr algn="l"/>
            <a:r>
              <a:rPr sz="1000"/>
              <a:t>[device unlockForConfiguration];</a:t>
            </a:r>
            <a:endParaRPr sz="1000"/>
          </a:p>
        </p:txBody>
      </p:sp>
      <p:pic>
        <p:nvPicPr>
          <p:cNvPr id="4" name="图片 3" descr="未命名绘图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5" y="2786380"/>
            <a:ext cx="6684010" cy="19519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0080" y="871220"/>
            <a:ext cx="6245225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曝光优化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676" y="142579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" y="1378585"/>
            <a:ext cx="8258810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一、需求追溯</a:t>
            </a:r>
            <a:br>
              <a:rPr lang="zh-CN" altLang="en-US" sz="1200" b="1"/>
            </a:br>
            <a:r>
              <a:rPr lang="zh-CN" altLang="en-US" sz="1100"/>
              <a:t>支撑 R1.</a:t>
            </a:r>
            <a:r>
              <a:rPr lang="en-US" altLang="zh-CN" sz="1100"/>
              <a:t>2</a:t>
            </a:r>
            <a:r>
              <a:rPr lang="zh-CN" altLang="en-US" sz="1100"/>
              <a:t> “色彩优化”，解决强光白块过饱和、弱光色彩噪点干扰识别的问题。</a:t>
            </a:r>
            <a:br>
              <a:rPr lang="zh-CN" altLang="en-US" sz="1100" b="1"/>
            </a:br>
            <a:endParaRPr lang="zh-CN" altLang="en-US" sz="1100"/>
          </a:p>
        </p:txBody>
      </p:sp>
      <p:sp>
        <p:nvSpPr>
          <p:cNvPr id="17" name="文本框 16"/>
          <p:cNvSpPr txBox="1"/>
          <p:nvPr/>
        </p:nvSpPr>
        <p:spPr>
          <a:xfrm>
            <a:off x="114300" y="1816735"/>
            <a:ext cx="825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二、方案</a:t>
            </a:r>
            <a:r>
              <a:rPr lang="zh-CN" altLang="en-US" sz="1200" b="1">
                <a:sym typeface="+mn-ea"/>
              </a:rPr>
              <a:t>设计</a:t>
            </a:r>
            <a:endParaRPr lang="zh-CN" altLang="en-US" sz="1200" b="1"/>
          </a:p>
          <a:p>
            <a:r>
              <a:rPr lang="zh-CN" altLang="en-US" sz="1100">
                <a:sym typeface="+mn-ea"/>
              </a:rPr>
              <a:t>通过光线传感器区分强光（≥1000nit）、弱光（≤50lux）、正常光。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强光下：亮度降低-0.2，饱和度保持1.0。弱光</a:t>
            </a:r>
            <a:r>
              <a:rPr lang="zh-CN" altLang="en-US" sz="1100">
                <a:sym typeface="+mn-ea"/>
              </a:rPr>
              <a:t>下：亮度提升 0.35、饱和度降低 0.8。</a:t>
            </a:r>
            <a:endParaRPr lang="zh-CN" altLang="en-US" sz="11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300" y="2421255"/>
            <a:ext cx="825881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三、实现</a:t>
            </a:r>
            <a:r>
              <a:rPr lang="zh-CN" altLang="en-US" sz="1200" b="1"/>
              <a:t>流程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74295" y="4474845"/>
            <a:ext cx="131699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114300" y="4815205"/>
            <a:ext cx="5465445" cy="13900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CIImage *ciImg = [CIImage imageWithCGImage:img.CGImage];</a:t>
            </a:r>
            <a:endParaRPr sz="1000"/>
          </a:p>
          <a:p>
            <a:pPr algn="l"/>
            <a:r>
              <a:rPr sz="1000"/>
              <a:t>CIFilter *filter = [CIFilter filterWithName:@"CIColorControls"];</a:t>
            </a:r>
            <a:endParaRPr sz="1000"/>
          </a:p>
          <a:p>
            <a:pPr algn="l"/>
            <a:r>
              <a:rPr sz="1000"/>
              <a:t>[filter setValue:ciImg forKey:kCIInputImageKey];</a:t>
            </a:r>
            <a:endParaRPr sz="1000"/>
          </a:p>
          <a:p>
            <a:pPr algn="l"/>
            <a:r>
              <a:rPr sz="1000"/>
              <a:t>filter.kCIInputBrightnessKey = (intensity≥1000) ? @(-0.2) : @(0.35);</a:t>
            </a:r>
            <a:endParaRPr sz="1000"/>
          </a:p>
          <a:p>
            <a:pPr algn="l"/>
            <a:r>
              <a:rPr sz="1000"/>
              <a:t>filter.kCIInputSaturationKey = (intensity≥1000) ? @(1.0) : @(0.8);</a:t>
            </a:r>
            <a:endParaRPr sz="1000"/>
          </a:p>
          <a:p>
            <a:pPr algn="l"/>
            <a:r>
              <a:rPr sz="1000"/>
              <a:t>CIContext *ctx = [CIContext contextWithOptions:nil];</a:t>
            </a:r>
            <a:endParaRPr sz="1000"/>
          </a:p>
          <a:p>
            <a:pPr algn="l"/>
            <a:r>
              <a:rPr sz="1000"/>
              <a:t>CGImageRef outImg = [ctx createCGImage:filter.outputImage fromRect:ciImg.extent];</a:t>
            </a:r>
            <a:endParaRPr sz="1000"/>
          </a:p>
          <a:p>
            <a:pPr algn="l"/>
            <a:r>
              <a:rPr sz="1000"/>
              <a:t>return [UIImage imageWithCGImage:outImg];</a:t>
            </a:r>
            <a:endParaRPr sz="1000"/>
          </a:p>
        </p:txBody>
      </p:sp>
      <p:pic>
        <p:nvPicPr>
          <p:cNvPr id="4" name="图片 3" descr="未命名绘图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35" y="2715260"/>
            <a:ext cx="796226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0080" y="871220"/>
            <a:ext cx="6245225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对比度优化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676" y="142579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" y="1356995"/>
            <a:ext cx="8258810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一、需求追溯</a:t>
            </a:r>
            <a:br>
              <a:rPr lang="zh-CN" altLang="en-US" sz="1200" b="1"/>
            </a:br>
            <a:r>
              <a:rPr sz="1100"/>
              <a:t>支撑 R1.1 “增强强弱光下扫码识别能力”，对应概念设计中 “对比度优化” 功能（动态调整对比度）</a:t>
            </a:r>
            <a:endParaRPr sz="1100"/>
          </a:p>
        </p:txBody>
      </p:sp>
      <p:sp>
        <p:nvSpPr>
          <p:cNvPr id="17" name="文本框 16"/>
          <p:cNvSpPr txBox="1"/>
          <p:nvPr/>
        </p:nvSpPr>
        <p:spPr>
          <a:xfrm>
            <a:off x="114300" y="1816735"/>
            <a:ext cx="8258810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二、方案</a:t>
            </a:r>
            <a:r>
              <a:rPr lang="zh-CN" altLang="en-US" sz="1200" b="1">
                <a:sym typeface="+mn-ea"/>
              </a:rPr>
              <a:t>设计</a:t>
            </a:r>
            <a:endParaRPr lang="zh-CN" altLang="en-US" sz="1200" b="1"/>
          </a:p>
          <a:p>
            <a:r>
              <a:rPr lang="zh-CN" altLang="en-US" sz="1100">
                <a:sym typeface="+mn-ea"/>
              </a:rPr>
              <a:t>通基于光线传感器数据，匹配强光 / 弱光 / 正常光场景（参考概念设计阈值），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强光场景：对比度提升 1.2 倍（增强光线层次），弱光场景：对比度提升 1.4 倍（避免暗部细节丢失）</a:t>
            </a:r>
            <a:endParaRPr lang="zh-CN" altLang="en-US" sz="11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300" y="2397760"/>
            <a:ext cx="825881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三、实现</a:t>
            </a:r>
            <a:r>
              <a:rPr lang="zh-CN" altLang="en-US" sz="1200" b="1"/>
              <a:t>流程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114300" y="4452620"/>
            <a:ext cx="131699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114300" y="4814570"/>
            <a:ext cx="5648960" cy="138430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CIImage *ciImg = [CIImage imageWithCGImage:img.CGImage];</a:t>
            </a:r>
            <a:endParaRPr sz="1000"/>
          </a:p>
          <a:p>
            <a:pPr algn="l"/>
            <a:r>
              <a:rPr sz="1000"/>
              <a:t>CIFilter *filter = [CIFilter filterWithName:@"CIColorControls"];</a:t>
            </a:r>
            <a:endParaRPr sz="1000"/>
          </a:p>
          <a:p>
            <a:pPr algn="l"/>
            <a:r>
              <a:rPr sz="1000"/>
              <a:t>[filter setValue:ciImg forKey:kCIInputImageKey];</a:t>
            </a:r>
            <a:endParaRPr sz="1000"/>
          </a:p>
          <a:p>
            <a:pPr algn="l"/>
            <a:r>
              <a:rPr sz="1000"/>
              <a:t>filter.kCIInputBrightnessKey = (intensity≥1000) ? @(-0.2) : @(0.35);</a:t>
            </a:r>
            <a:endParaRPr sz="1000"/>
          </a:p>
          <a:p>
            <a:pPr algn="l"/>
            <a:r>
              <a:rPr sz="1000"/>
              <a:t>filter.kCIInputSaturationKey = (intensity≥1000) ? @(1.0) : @(0.8);</a:t>
            </a:r>
            <a:endParaRPr sz="1000"/>
          </a:p>
          <a:p>
            <a:pPr algn="l"/>
            <a:r>
              <a:rPr sz="1000"/>
              <a:t>CIContext *ctx = [CIContext contextWithOptions:nil];</a:t>
            </a:r>
            <a:endParaRPr sz="1000"/>
          </a:p>
          <a:p>
            <a:pPr algn="l"/>
            <a:r>
              <a:rPr sz="1000"/>
              <a:t>CGImageRef outImg = [ctx createCGImage:filter.outputImage fromRect:ciImg.extent];</a:t>
            </a:r>
            <a:endParaRPr sz="1000"/>
          </a:p>
          <a:p>
            <a:pPr algn="l"/>
            <a:r>
              <a:rPr sz="1000"/>
              <a:t>return [UIImage imageWithCGImage:outImg];</a:t>
            </a:r>
            <a:endParaRPr sz="1000"/>
          </a:p>
        </p:txBody>
      </p:sp>
      <p:pic>
        <p:nvPicPr>
          <p:cNvPr id="4" name="图片 3" descr="未命名绘图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35" y="2691765"/>
            <a:ext cx="6167755" cy="17951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0080" y="871220"/>
            <a:ext cx="6245225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灰度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化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676" y="142579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" y="1416050"/>
            <a:ext cx="8258810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一、需求追溯</a:t>
            </a:r>
            <a:br>
              <a:rPr lang="zh-CN" altLang="en-US" sz="1200" b="1"/>
            </a:br>
            <a:r>
              <a:rPr sz="1200"/>
              <a:t>支撑 R1.1 “增强强弱光下扫码识别能力”，对应概念设计中 “灰度化” 功能（RGB 加权计算 + Otsu 二值化）</a:t>
            </a:r>
            <a:endParaRPr sz="1200"/>
          </a:p>
        </p:txBody>
      </p:sp>
      <p:sp>
        <p:nvSpPr>
          <p:cNvPr id="17" name="文本框 16"/>
          <p:cNvSpPr txBox="1"/>
          <p:nvPr/>
        </p:nvSpPr>
        <p:spPr>
          <a:xfrm>
            <a:off x="114300" y="1889760"/>
            <a:ext cx="825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二、方案</a:t>
            </a:r>
            <a:r>
              <a:rPr lang="zh-CN" altLang="en-US" sz="1200" b="1">
                <a:sym typeface="+mn-ea"/>
              </a:rPr>
              <a:t>设计</a:t>
            </a:r>
            <a:endParaRPr lang="zh-CN" altLang="en-US" sz="1200" b="1"/>
          </a:p>
          <a:p>
            <a:r>
              <a:rPr lang="zh-CN" altLang="en-US" sz="1200">
                <a:sym typeface="+mn-ea"/>
              </a:rPr>
              <a:t>灰度化标准：RGB 通道 0.299:0.587:0.114 加权计算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二值化：Otsu 自适应阈值算法（自动分割黑白）</a:t>
            </a:r>
            <a:endParaRPr lang="zh-CN" altLang="en-US" sz="12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300" y="2569210"/>
            <a:ext cx="825881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三、实现</a:t>
            </a:r>
            <a:r>
              <a:rPr lang="zh-CN" altLang="en-US" sz="1200" b="1"/>
              <a:t>流程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114300" y="4052570"/>
            <a:ext cx="1336675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114300" y="4434840"/>
            <a:ext cx="8054975" cy="139636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CGImageRef imgRef = img.CGImage;</a:t>
            </a:r>
            <a:endParaRPr sz="1000"/>
          </a:p>
          <a:p>
            <a:pPr algn="l"/>
            <a:r>
              <a:rPr sz="1000"/>
              <a:t>size_t w = CGImageGetWidth(imgRef), h = CGImageGetHeight(imgRef);</a:t>
            </a:r>
            <a:endParaRPr sz="1000"/>
          </a:p>
          <a:p>
            <a:pPr algn="l"/>
            <a:r>
              <a:rPr sz="1000"/>
              <a:t>uint32_t *pixels = malloc(w*h*sizeof(uint32_t));</a:t>
            </a:r>
            <a:endParaRPr sz="1000"/>
          </a:p>
          <a:p>
            <a:pPr algn="l"/>
            <a:r>
              <a:rPr sz="1000"/>
              <a:t>CGContextRef ctx = CGBitmapContextCreate(pixels, w, h, 8, w*4, NULL, kCGBitmapByteOrder32Little);</a:t>
            </a:r>
            <a:endParaRPr sz="1000"/>
          </a:p>
          <a:p>
            <a:pPr algn="l"/>
            <a:r>
              <a:rPr sz="1000"/>
              <a:t>CGContextDrawImage(ctx, CGRectMake(0,0,w,h), imgRef);</a:t>
            </a:r>
            <a:endParaRPr sz="1000"/>
          </a:p>
          <a:p>
            <a:pPr algn="l"/>
            <a:r>
              <a:rPr sz="1000"/>
              <a:t>[self otsuBinarization:pixels width:w height:h]; // 核心二值化</a:t>
            </a:r>
            <a:endParaRPr sz="1000"/>
          </a:p>
          <a:p>
            <a:pPr algn="l"/>
            <a:r>
              <a:rPr sz="1000"/>
              <a:t>return [UIImage imageWithCGImage:CGBitmapContextCreateImage(ctx)];</a:t>
            </a:r>
            <a:endParaRPr sz="1000"/>
          </a:p>
        </p:txBody>
      </p:sp>
      <p:pic>
        <p:nvPicPr>
          <p:cNvPr id="4" name="图片 3" descr="未命名绘图_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" y="3073400"/>
            <a:ext cx="7534910" cy="768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0080" y="871220"/>
            <a:ext cx="7054850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r>
              <a:rPr lang="zh-CN" altLang="en-US" sz="2450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模块化与兼容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676" y="142579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" y="1348105"/>
            <a:ext cx="8258810" cy="655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一、需求追溯</a:t>
            </a:r>
            <a:br>
              <a:rPr lang="zh-CN" altLang="en-US" sz="1200" b="1"/>
            </a:br>
            <a:r>
              <a:rPr sz="1100"/>
              <a:t>支撑 R2.1“模块化开发，迁移其他 APP 成本≤1 人 / 天”、R2.2“提供接入标准文档，不影响 APP 核心业务流程”、R2.3“包体积占用 &lt; 1M，使用自研免费方案”，对应概念设计中 “独立化模块 + 标准化接口 + 自研轻量扫码引擎” 组合功能</a:t>
            </a:r>
            <a:r>
              <a:rPr lang="zh-CN" sz="1100"/>
              <a:t>。</a:t>
            </a:r>
            <a:endParaRPr lang="zh-CN" sz="1100"/>
          </a:p>
        </p:txBody>
      </p:sp>
      <p:sp>
        <p:nvSpPr>
          <p:cNvPr id="17" name="文本框 16"/>
          <p:cNvSpPr txBox="1"/>
          <p:nvPr/>
        </p:nvSpPr>
        <p:spPr>
          <a:xfrm>
            <a:off x="114300" y="1950720"/>
            <a:ext cx="8258810" cy="1216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二、方案</a:t>
            </a:r>
            <a:r>
              <a:rPr lang="zh-CN" altLang="en-US" sz="1200" b="1">
                <a:sym typeface="+mn-ea"/>
              </a:rPr>
              <a:t>设计</a:t>
            </a:r>
            <a:endParaRPr lang="zh-CN" altLang="en-US" sz="1200" b="1"/>
          </a:p>
          <a:p>
            <a:r>
              <a:rPr lang="zh-CN" altLang="en-US" sz="1100">
                <a:sym typeface="+mn-ea"/>
              </a:rPr>
              <a:t>自研轻量引擎：基于 iOS 原生 AVFoundation 框架开发，无第三方依赖，代码裁剪 + 资源压缩实现包体积 &lt; 1M（严格遵循概念设计）。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独立化模块（封装层）：封装为跨平台 Framework，独立命名空间CAScan，资源通过CAScanResources.bundle隔离（参考概念设计）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标准化接口（接入层）：定义 “初始化→启动→停止→释放”4 步核心接口，含成功 / 失败回调（契合概念设计标准）。</a:t>
            </a:r>
            <a:endParaRPr lang="zh-CN" altLang="en-US" sz="11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90" y="3704590"/>
            <a:ext cx="825881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三、实现</a:t>
            </a:r>
            <a:r>
              <a:rPr lang="zh-CN" altLang="en-US" sz="1200" b="1"/>
              <a:t>流程：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114300" y="4209415"/>
            <a:ext cx="1297940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114300" y="4831080"/>
            <a:ext cx="8030845" cy="115633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+ (instancetype)sharedInstance;</a:t>
            </a:r>
            <a:endParaRPr sz="1000"/>
          </a:p>
          <a:p>
            <a:pPr algn="l"/>
            <a:r>
              <a:rPr sz="1000"/>
              <a:t>- (void)initScanWithFrame:(CGRect)frame delegate:(id&lt;CAScanDelegate&gt;)delegate;</a:t>
            </a:r>
            <a:endParaRPr sz="1000"/>
          </a:p>
          <a:p>
            <a:pPr algn="l"/>
            <a:r>
              <a:rPr sz="1000"/>
              <a:t>- (void)startScan;</a:t>
            </a:r>
            <a:endParaRPr sz="1000"/>
          </a:p>
          <a:p>
            <a:pPr algn="l"/>
            <a:r>
              <a:rPr sz="1000"/>
              <a:t>- (void)stopScan;</a:t>
            </a:r>
            <a:endParaRPr sz="1000"/>
          </a:p>
          <a:p>
            <a:pPr algn="l"/>
            <a:r>
              <a:rPr sz="1000"/>
              <a:t>NSString *bundlePath = [[NSBundle bundleForClass:[self class]] pathForResource:@"CAScanResources" ofType:@"bundle"];</a:t>
            </a:r>
            <a:endParaRPr sz="1000"/>
          </a:p>
          <a:p>
            <a:pPr algn="l"/>
            <a:r>
              <a:rPr sz="1000"/>
              <a:t>return [UIImage imageNamed:name inBundle:[NSBundle bundleWithPath:bundlePath] compatibleWithTraitCollection:nil];</a:t>
            </a:r>
            <a:endParaRPr sz="1000"/>
          </a:p>
        </p:txBody>
      </p:sp>
      <p:sp>
        <p:nvSpPr>
          <p:cNvPr id="9" name="文本框 8"/>
          <p:cNvSpPr txBox="1"/>
          <p:nvPr/>
        </p:nvSpPr>
        <p:spPr>
          <a:xfrm>
            <a:off x="72390" y="4536440"/>
            <a:ext cx="129794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pic>
        <p:nvPicPr>
          <p:cNvPr id="10" name="图片 9" descr="未命名绘图_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430" y="3011170"/>
            <a:ext cx="7008495" cy="12147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0080" y="871220"/>
            <a:ext cx="7054850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 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开发（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D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evelop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）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r>
              <a:rPr lang="zh-CN" altLang="en-US" sz="2450" dirty="0">
                <a:solidFill>
                  <a:prstClr val="black"/>
                </a:solidFill>
                <a:latin typeface="微软雅黑"/>
                <a:ea typeface="微软雅黑"/>
                <a:sym typeface="+mn-ea"/>
              </a:rPr>
              <a:t>数据监控</a:t>
            </a:r>
            <a:endParaRPr lang="zh-CN" altLang="en-US" sz="2450" dirty="0">
              <a:solidFill>
                <a:prstClr val="black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" y="846183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二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9676" y="1425799"/>
            <a:ext cx="5900157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132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</a:rPr>
              <a:t> </a:t>
            </a:r>
            <a:endParaRPr lang="zh-CN" altLang="en-US" sz="132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" y="1348105"/>
            <a:ext cx="8258810" cy="655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一、需求追溯</a:t>
            </a:r>
            <a:br>
              <a:rPr lang="zh-CN" altLang="en-US" sz="1200" b="1"/>
            </a:br>
            <a:r>
              <a:rPr sz="1100"/>
              <a:t>支撑 R3.1“接入数据埋点，实时监控扫码成功率”，对应概念设计中 “收集与分析” 功能（用户行为记录 + 实时统计）</a:t>
            </a:r>
            <a:endParaRPr sz="1100"/>
          </a:p>
        </p:txBody>
      </p:sp>
      <p:sp>
        <p:nvSpPr>
          <p:cNvPr id="17" name="文本框 16"/>
          <p:cNvSpPr txBox="1"/>
          <p:nvPr/>
        </p:nvSpPr>
        <p:spPr>
          <a:xfrm>
            <a:off x="114300" y="1794510"/>
            <a:ext cx="8258810" cy="735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二、方案</a:t>
            </a:r>
            <a:r>
              <a:rPr lang="zh-CN" altLang="en-US" sz="1200" b="1">
                <a:sym typeface="+mn-ea"/>
              </a:rPr>
              <a:t>设计</a:t>
            </a:r>
            <a:endParaRPr lang="zh-CN" altLang="en-US" sz="1200" b="1"/>
          </a:p>
          <a:p>
            <a:r>
              <a:rPr lang="zh-CN" altLang="en-US" sz="1100">
                <a:sym typeface="+mn-ea"/>
              </a:rPr>
              <a:t>采集维度：用户 ID、机型、扫码时间、结果、光强度等 12 项数据。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上报机制：实时上报 + 离线缓存。</a:t>
            </a:r>
            <a:endParaRPr lang="zh-CN" altLang="en-US" sz="11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4300" y="2375535"/>
            <a:ext cx="825881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三、实现</a:t>
            </a:r>
            <a:r>
              <a:rPr lang="zh-CN" altLang="en-US" sz="1200" b="1"/>
              <a:t>流程</a:t>
            </a:r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114300" y="4783455"/>
            <a:ext cx="8030845" cy="136017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- (void)reportData:(NSString *)result lightIntensity:(CGFloat)intensity {</a:t>
            </a:r>
            <a:endParaRPr sz="1000"/>
          </a:p>
          <a:p>
            <a:pPr algn="l"/>
            <a:r>
              <a:rPr sz="1000"/>
              <a:t>    NSDictionary *data = @{@"user_id":[self getUserId],</a:t>
            </a:r>
            <a:endParaRPr sz="1000"/>
          </a:p>
          <a:p>
            <a:pPr algn="l"/>
            <a:r>
              <a:rPr sz="1000"/>
              <a:t>                           @"device":[UIDevice currentDevice].model,</a:t>
            </a:r>
            <a:endParaRPr sz="1000"/>
          </a:p>
          <a:p>
            <a:pPr algn="l"/>
            <a:r>
              <a:rPr sz="1000"/>
              <a:t>                           @"light":@(intensity),</a:t>
            </a:r>
            <a:endParaRPr sz="1000"/>
          </a:p>
          <a:p>
            <a:pPr algn="l"/>
            <a:r>
              <a:rPr sz="1000"/>
              <a:t>                           @"result":result,</a:t>
            </a:r>
            <a:endParaRPr sz="1000"/>
          </a:p>
          <a:p>
            <a:pPr algn="l"/>
            <a:r>
              <a:rPr sz="1000"/>
              <a:t>                           @"time":[self currentTime]};</a:t>
            </a:r>
            <a:endParaRPr sz="1000"/>
          </a:p>
          <a:p>
            <a:pPr algn="l"/>
            <a:r>
              <a:rPr sz="1000"/>
              <a:t>    self.isNetworkAvailable ? [self realtimeUpload:data] : [self cacheData:data];</a:t>
            </a:r>
            <a:endParaRPr sz="1000"/>
          </a:p>
          <a:p>
            <a:pPr algn="l"/>
            <a:r>
              <a:rPr sz="1000"/>
              <a:t>}</a:t>
            </a:r>
            <a:endParaRPr sz="1000"/>
          </a:p>
        </p:txBody>
      </p:sp>
      <p:sp>
        <p:nvSpPr>
          <p:cNvPr id="9" name="文本框 8"/>
          <p:cNvSpPr txBox="1"/>
          <p:nvPr/>
        </p:nvSpPr>
        <p:spPr>
          <a:xfrm>
            <a:off x="72390" y="4489450"/>
            <a:ext cx="1297940" cy="29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四、核心</a:t>
            </a:r>
            <a:r>
              <a:rPr lang="zh-CN" altLang="en-US" sz="1200" b="1"/>
              <a:t>实现</a:t>
            </a:r>
            <a:endParaRPr lang="zh-CN" altLang="en-US" sz="1200" b="1"/>
          </a:p>
          <a:p>
            <a:endParaRPr lang="zh-CN" altLang="en-US" sz="1200"/>
          </a:p>
        </p:txBody>
      </p:sp>
      <p:pic>
        <p:nvPicPr>
          <p:cNvPr id="4" name="图片 3" descr="未命名绘图_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2682875"/>
            <a:ext cx="7830820" cy="17132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75594" y="2011191"/>
            <a:ext cx="1939171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86784" tIns="43392" rIns="86784" bIns="43392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4525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优   化</a:t>
            </a:r>
            <a:endParaRPr lang="zh-CN" altLang="en-US" sz="452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29204" y="3232150"/>
            <a:ext cx="3160130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6784" tIns="43392" rIns="86784" bIns="43392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4525" b="1" dirty="0">
                <a:latin typeface="Arial" panose="020B0604020202090204" pitchFamily="34" charset="0"/>
                <a:ea typeface="微软雅黑" panose="020B0703020204020201" pitchFamily="34" charset="-122"/>
                <a:cs typeface="Arial" panose="020B0604020202090204" pitchFamily="34" charset="0"/>
              </a:rPr>
              <a:t>Optimize</a:t>
            </a:r>
            <a:endParaRPr lang="en-US" altLang="zh-CN" sz="4525" b="1" dirty="0">
              <a:latin typeface="Arial" panose="020B0604020202090204" pitchFamily="34" charset="0"/>
              <a:ea typeface="微软雅黑" panose="020B0703020204020201" pitchFamily="34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630" y="787612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60" b="1" dirty="0">
                <a:solidFill>
                  <a:schemeClr val="bg1"/>
                </a:solidFill>
              </a:rPr>
              <a:t>三</a:t>
            </a:r>
            <a:endParaRPr lang="zh-CN" altLang="en-US" sz="2260" b="1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9455" y="796925"/>
            <a:ext cx="5864225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</a:rPr>
              <a:t>优化（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O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</a:rPr>
              <a:t>ptimize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0" y="1343660"/>
            <a:ext cx="730440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sym typeface="+mn-ea"/>
              </a:rPr>
              <a:t>核心优化</a:t>
            </a:r>
            <a:r>
              <a:rPr lang="zh-CN" altLang="en-US" sz="1200">
                <a:sym typeface="+mn-ea"/>
              </a:rPr>
              <a:t>：视频流帧获取频率调整（从 30fps 全帧→0.2 秒 / 次），针对开发阶段技术瓶颈，实现 “降负载、保质量。</a:t>
            </a:r>
            <a:endParaRPr lang="zh-CN" altLang="en-US" sz="12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550" y="1856740"/>
            <a:ext cx="3739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一、问题发现（源自 D 阶段开发实测数据）</a:t>
            </a:r>
            <a:endParaRPr lang="zh-CN" altLang="en-US" sz="1200" b="1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2550" y="2186305"/>
          <a:ext cx="7778115" cy="1245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430"/>
                <a:gridCol w="996950"/>
                <a:gridCol w="1557655"/>
                <a:gridCol w="3307080"/>
              </a:tblGrid>
              <a:tr h="430530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问题维度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实测数据（未优化前）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6σ 规格上限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偏差分析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44767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CPU负载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38%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≤25%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超出规格上限 52%，易导致设备发热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36703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内存占用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292MB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≤150MB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超出规格上限 95%，存在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卡顿风险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2550" y="3637280"/>
            <a:ext cx="3739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二、根因定位</a:t>
            </a:r>
            <a:endParaRPr lang="zh-CN" altLang="en-US" sz="1200" b="1"/>
          </a:p>
        </p:txBody>
      </p:sp>
      <p:pic>
        <p:nvPicPr>
          <p:cNvPr id="2" name="图片 1" descr="未命名绘图_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3912870"/>
            <a:ext cx="8046085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630" y="787612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60" b="1" dirty="0">
                <a:solidFill>
                  <a:schemeClr val="bg1"/>
                </a:solidFill>
              </a:rPr>
              <a:t>三</a:t>
            </a:r>
            <a:endParaRPr lang="zh-CN" altLang="en-US" sz="2260" b="1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9455" y="796925"/>
            <a:ext cx="5864225" cy="4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</a:rPr>
              <a:t>优化（</a:t>
            </a:r>
            <a:r>
              <a:rPr lang="en-US" altLang="zh-CN" sz="2450" dirty="0">
                <a:solidFill>
                  <a:srgbClr val="FF0000"/>
                </a:solidFill>
                <a:latin typeface="微软雅黑" panose="020B0703020204020201" pitchFamily="34" charset="-122"/>
                <a:ea typeface="微软雅黑" panose="020B0703020204020201" pitchFamily="34" charset="-122"/>
              </a:rPr>
              <a:t>O</a:t>
            </a:r>
            <a:r>
              <a:rPr lang="en-US" altLang="zh-CN" sz="2450" dirty="0">
                <a:latin typeface="微软雅黑" panose="020B0703020204020201" pitchFamily="34" charset="-122"/>
                <a:ea typeface="微软雅黑" panose="020B0703020204020201" pitchFamily="34" charset="-122"/>
              </a:rPr>
              <a:t>ptimize</a:t>
            </a:r>
            <a:r>
              <a:rPr lang="zh-CN" altLang="en-US" sz="2450" dirty="0">
                <a:latin typeface="微软雅黑" panose="020B0703020204020201" pitchFamily="34" charset="-122"/>
                <a:ea typeface="微软雅黑" panose="020B0703020204020201" pitchFamily="34" charset="-122"/>
              </a:rPr>
              <a:t>）</a:t>
            </a:r>
            <a:endParaRPr lang="zh-CN" altLang="en-US" sz="2450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550" y="1362710"/>
            <a:ext cx="3739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三、优化方案设计</a:t>
            </a:r>
            <a:endParaRPr lang="zh-CN" altLang="en-US" sz="1200" b="1"/>
          </a:p>
        </p:txBody>
      </p:sp>
      <p:sp>
        <p:nvSpPr>
          <p:cNvPr id="11" name="文本框 10"/>
          <p:cNvSpPr txBox="1"/>
          <p:nvPr/>
        </p:nvSpPr>
        <p:spPr>
          <a:xfrm>
            <a:off x="82550" y="2098675"/>
            <a:ext cx="3739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四、关键代码实现</a:t>
            </a:r>
            <a:endParaRPr lang="zh-CN" altLang="en-US" sz="1200" b="1"/>
          </a:p>
        </p:txBody>
      </p:sp>
      <p:sp>
        <p:nvSpPr>
          <p:cNvPr id="2" name="文本框 1"/>
          <p:cNvSpPr txBox="1"/>
          <p:nvPr/>
        </p:nvSpPr>
        <p:spPr>
          <a:xfrm>
            <a:off x="111125" y="1638300"/>
            <a:ext cx="77495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频率设定依据</a:t>
            </a:r>
            <a:r>
              <a:rPr lang="zh-CN" altLang="en-US" sz="1200"/>
              <a:t>：通过 D 阶段帧数据测试，0.2 秒 / 次（5fps）可平衡 “识别连续性” 与 “资源消耗”。</a:t>
            </a:r>
            <a:endParaRPr lang="zh-CN" altLang="en-US" sz="1200"/>
          </a:p>
          <a:p>
            <a:r>
              <a:rPr lang="zh-CN" altLang="en-US" sz="1200" b="1"/>
              <a:t>帧筛选机制</a:t>
            </a:r>
            <a:r>
              <a:rPr lang="zh-CN" altLang="en-US" sz="1200"/>
              <a:t>：基于帧清晰度算法，在 0.2 秒间隔内仅保留 1 帧有效帧，丢弃模糊 / 过曝帧。</a:t>
            </a:r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114300" y="2374265"/>
            <a:ext cx="8030845" cy="115633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sz="1000"/>
              <a:t>// 废弃30fps全帧监听，改用0.2秒精准定时器</a:t>
            </a:r>
            <a:endParaRPr sz="1000"/>
          </a:p>
          <a:p>
            <a:pPr algn="l"/>
            <a:r>
              <a:rPr sz="1000"/>
              <a:t>self.frameTimer = [NSTimer scheduledTimerWithTimeInterval:0.2 </a:t>
            </a:r>
            <a:endParaRPr sz="1000"/>
          </a:p>
          <a:p>
            <a:pPr algn="l"/>
            <a:r>
              <a:rPr sz="1000"/>
              <a:t>                                                target:self </a:t>
            </a:r>
            <a:endParaRPr sz="1000"/>
          </a:p>
          <a:p>
            <a:pPr algn="l"/>
            <a:r>
              <a:rPr sz="1000"/>
              <a:t>                                              selector:@selector(captureValidFrame) </a:t>
            </a:r>
            <a:endParaRPr sz="1000"/>
          </a:p>
          <a:p>
            <a:pPr algn="l"/>
            <a:r>
              <a:rPr sz="1000"/>
              <a:t>                                              userInfo:nil </a:t>
            </a:r>
            <a:endParaRPr sz="1000"/>
          </a:p>
          <a:p>
            <a:pPr algn="l"/>
            <a:r>
              <a:rPr sz="1000"/>
              <a:t>                                               repeats:YES];</a:t>
            </a:r>
            <a:endParaRPr sz="1000"/>
          </a:p>
          <a:p>
            <a:pPr algn="l"/>
            <a:r>
              <a:rPr sz="1000"/>
              <a:t>[[NSRunLoop currentRunLoop] addTimer:self.frameTimer forMode:NSRunLoopCommonModes];</a:t>
            </a:r>
            <a:endParaRPr sz="1000"/>
          </a:p>
        </p:txBody>
      </p:sp>
      <p:sp>
        <p:nvSpPr>
          <p:cNvPr id="3" name="文本框 2"/>
          <p:cNvSpPr txBox="1"/>
          <p:nvPr/>
        </p:nvSpPr>
        <p:spPr>
          <a:xfrm>
            <a:off x="82550" y="3602355"/>
            <a:ext cx="3739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五、优化效果</a:t>
            </a:r>
            <a:r>
              <a:rPr lang="zh-CN" altLang="en-US" sz="1200" b="1"/>
              <a:t>验证</a:t>
            </a:r>
            <a:endParaRPr lang="zh-CN" altLang="en-US" sz="1200" b="1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4300" y="3950335"/>
          <a:ext cx="7386320" cy="1515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880"/>
                <a:gridCol w="755015"/>
                <a:gridCol w="958850"/>
                <a:gridCol w="1311910"/>
                <a:gridCol w="2907665"/>
              </a:tblGrid>
              <a:tr h="288290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关键指标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优化前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优化目标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预测提升幅度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62420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CPU负载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38%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≤25%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34%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Instruments 实时监控 30 分钟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60261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内存占用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292MB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≤150MB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49%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Xcode Memory Graph 分析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1" name="Rectangle 2"/>
          <p:cNvSpPr>
            <a:spLocks noChangeArrowheads="1"/>
          </p:cNvSpPr>
          <p:nvPr/>
        </p:nvSpPr>
        <p:spPr bwMode="auto">
          <a:xfrm>
            <a:off x="3375594" y="2011191"/>
            <a:ext cx="1939171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86784" tIns="43392" rIns="86784" bIns="43392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4525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验  证</a:t>
            </a:r>
            <a:endParaRPr lang="zh-CN" altLang="en-US" sz="452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3160131" y="3232150"/>
            <a:ext cx="2298277" cy="783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6784" tIns="43392" rIns="86784" bIns="43392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4525" b="1" dirty="0">
                <a:latin typeface="微软雅黑" panose="020B0703020204020201" pitchFamily="34" charset="-122"/>
                <a:ea typeface="微软雅黑" panose="020B0703020204020201" pitchFamily="34" charset="-122"/>
              </a:rPr>
              <a:t>Verify</a:t>
            </a:r>
            <a:endParaRPr lang="en-US" altLang="zh-CN" sz="4525" b="1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4964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</a:t>
            </a:r>
            <a:r>
              <a:rPr lang="zh-CN" altLang="en-US" sz="240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视频帧预处理</a:t>
            </a:r>
            <a:endParaRPr lang="zh-CN" altLang="en-US" sz="24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63969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二、测试验证</a:t>
            </a:r>
            <a:br>
              <a:rPr lang="zh-CN" altLang="en-US" sz="1200" b="1"/>
            </a:b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2085" y="3135630"/>
          <a:ext cx="7438390" cy="2165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60730"/>
                <a:gridCol w="965200"/>
                <a:gridCol w="2646045"/>
                <a:gridCol w="1603375"/>
              </a:tblGrid>
              <a:tr h="438785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测试项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设计目标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实际达成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验证数据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94932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单帧处理耗时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≤20ms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18ms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</a:t>
                      </a: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200 组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不同分辨率条码样本，中测试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197 组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处理耗时≤20ms，3 组为 21-22ms（达标率 98%）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77724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CPU负载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≤25%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21%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用 Instruments 工具监控扫码过程 CPU 占用，持续测试 30 分钟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平均 18%，无超阈值情况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0" y="1403985"/>
            <a:ext cx="152654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一、核心</a:t>
            </a:r>
            <a:r>
              <a:rPr lang="zh-CN" altLang="en-US" sz="1200" b="1"/>
              <a:t>目标</a:t>
            </a:r>
            <a:endParaRPr lang="zh-CN" altLang="en-US" sz="1200" b="1"/>
          </a:p>
        </p:txBody>
      </p:sp>
      <p:sp>
        <p:nvSpPr>
          <p:cNvPr id="30" name="文本框 29"/>
          <p:cNvSpPr txBox="1"/>
          <p:nvPr/>
        </p:nvSpPr>
        <p:spPr>
          <a:xfrm>
            <a:off x="98425" y="1911985"/>
            <a:ext cx="6550025" cy="3987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 algn="l"/>
            <a:r>
              <a:rPr lang="en-US" sz="1000"/>
              <a:t>1.</a:t>
            </a:r>
            <a:r>
              <a:rPr sz="1000"/>
              <a:t>单帧处理耗时≤20ms</a:t>
            </a:r>
            <a:r>
              <a:rPr lang="zh-CN" sz="1000"/>
              <a:t>。</a:t>
            </a:r>
            <a:endParaRPr sz="1000"/>
          </a:p>
          <a:p>
            <a:pPr algn="l"/>
            <a:r>
              <a:rPr lang="en-US" sz="1000"/>
              <a:t>2.</a:t>
            </a:r>
            <a:r>
              <a:rPr sz="1000"/>
              <a:t>CPU 负载峰值≤25%</a:t>
            </a:r>
            <a:r>
              <a:rPr lang="zh-CN" sz="1000"/>
              <a:t>。</a:t>
            </a:r>
            <a:endParaRPr lang="zh-CN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4964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</a:t>
            </a:r>
            <a:r>
              <a:rPr lang="zh-CN" altLang="en-US" sz="240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色彩</a:t>
            </a:r>
            <a:r>
              <a:rPr lang="zh-CN" altLang="en-US" sz="240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优化</a:t>
            </a:r>
            <a:endParaRPr lang="zh-CN" altLang="en-US" sz="240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63969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二、测试验证</a:t>
            </a:r>
            <a:br>
              <a:rPr lang="zh-CN" altLang="en-US" sz="1200" b="1"/>
            </a:b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" y="3039110"/>
          <a:ext cx="7438390" cy="294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60730"/>
                <a:gridCol w="965200"/>
                <a:gridCol w="2748915"/>
                <a:gridCol w="1500505"/>
              </a:tblGrid>
              <a:tr h="438785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测试项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设计目标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实际达成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验证数据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94932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强光下过饱和干扰占比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≤8%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6%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 500 组强光场景（1000-1500nit）条码样本，覆盖不同反光程度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500 组样本中 490 组干扰占比≤8%，其中 475 组≤6%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77724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弱光下色彩噪点干扰占比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≤25%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20%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 500 组弱光场景（10-50lux）条码样本，含彩色噪点干扰样本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500 组样本中 480 组干扰占比≤25%，其中 450 组≤20%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0" y="1403985"/>
            <a:ext cx="152654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一、核心</a:t>
            </a:r>
            <a:r>
              <a:rPr lang="zh-CN" altLang="en-US" sz="1200" b="1"/>
              <a:t>目标</a:t>
            </a:r>
            <a:endParaRPr lang="zh-CN" altLang="en-US" sz="1200" b="1"/>
          </a:p>
        </p:txBody>
      </p:sp>
      <p:sp>
        <p:nvSpPr>
          <p:cNvPr id="30" name="文本框 29"/>
          <p:cNvSpPr txBox="1"/>
          <p:nvPr/>
        </p:nvSpPr>
        <p:spPr>
          <a:xfrm>
            <a:off x="98425" y="1873885"/>
            <a:ext cx="6550025" cy="3987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 algn="l"/>
            <a:r>
              <a:rPr lang="en-US" sz="1000"/>
              <a:t>1.</a:t>
            </a:r>
            <a:r>
              <a:rPr sz="1000"/>
              <a:t>强光下白块过饱和干扰≤8%</a:t>
            </a:r>
            <a:endParaRPr sz="1000"/>
          </a:p>
          <a:p>
            <a:pPr algn="l"/>
            <a:r>
              <a:rPr lang="en-US" sz="1000"/>
              <a:t>2.</a:t>
            </a:r>
            <a:r>
              <a:rPr sz="1000"/>
              <a:t>弱光下色彩噪点干扰≤25%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4964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</a:t>
            </a:r>
            <a:r>
              <a:rPr lang="zh-CN" altLang="en-US" sz="240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曝光</a:t>
            </a:r>
            <a:r>
              <a:rPr lang="zh-CN" altLang="en-US" sz="240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优化</a:t>
            </a:r>
            <a:endParaRPr lang="zh-CN" altLang="en-US" sz="240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63969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二、测试验证</a:t>
            </a:r>
            <a:br>
              <a:rPr lang="zh-CN" altLang="en-US" sz="1200" b="1"/>
            </a:b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" y="3039110"/>
          <a:ext cx="7438390" cy="294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60730"/>
                <a:gridCol w="965200"/>
                <a:gridCol w="2748915"/>
                <a:gridCol w="1500505"/>
              </a:tblGrid>
              <a:tr h="438785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测试项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设计目标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实际达成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验证数据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94932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强光下条码识别率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≥98%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98.7%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 300 组强光场景条码（含反光、过曝样本），在 10 款 iOS 机型测试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300 组样本中 296 组识别成功，成功率 98.7%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77724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弱光下条码识别率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≥97%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97.3%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 300 组弱光场景条码（昏暗环境、低对比度样本）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300 组样本中 292 组识别成功，成功率 97.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0" y="1403985"/>
            <a:ext cx="152654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一、核心</a:t>
            </a:r>
            <a:r>
              <a:rPr lang="zh-CN" altLang="en-US" sz="1200" b="1"/>
              <a:t>目标</a:t>
            </a:r>
            <a:endParaRPr lang="zh-CN" altLang="en-US" sz="1200" b="1"/>
          </a:p>
        </p:txBody>
      </p:sp>
      <p:sp>
        <p:nvSpPr>
          <p:cNvPr id="30" name="文本框 29"/>
          <p:cNvSpPr txBox="1"/>
          <p:nvPr/>
        </p:nvSpPr>
        <p:spPr>
          <a:xfrm>
            <a:off x="98425" y="1873885"/>
            <a:ext cx="6550025" cy="3987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 algn="l"/>
            <a:r>
              <a:rPr lang="en-US" sz="1000"/>
              <a:t>1.</a:t>
            </a:r>
            <a:r>
              <a:rPr sz="1000"/>
              <a:t>强光下条码识别率≥98%</a:t>
            </a:r>
            <a:r>
              <a:rPr lang="zh-CN" sz="1000"/>
              <a:t>。</a:t>
            </a:r>
            <a:endParaRPr sz="1000"/>
          </a:p>
          <a:p>
            <a:pPr algn="l"/>
            <a:r>
              <a:rPr lang="en-US" sz="1000"/>
              <a:t>2.</a:t>
            </a:r>
            <a:r>
              <a:rPr sz="1000"/>
              <a:t>弱光下≥97%</a:t>
            </a:r>
            <a:r>
              <a:rPr lang="zh-CN" sz="1000"/>
              <a:t>。</a:t>
            </a:r>
            <a:endParaRPr lang="zh-CN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4964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）对比度</a:t>
            </a:r>
            <a:r>
              <a:rPr lang="zh-CN" altLang="en-US" sz="2400" dirty="0">
                <a:latin typeface="微软雅黑" panose="020B0703020204020201" pitchFamily="34" charset="-122"/>
                <a:ea typeface="微软雅黑" panose="020B0703020204020201" pitchFamily="34" charset="-122"/>
                <a:cs typeface="微软雅黑" panose="020B0703020204020201" pitchFamily="34" charset="-122"/>
                <a:sym typeface="+mn-ea"/>
              </a:rPr>
              <a:t>优化</a:t>
            </a:r>
            <a:endParaRPr lang="zh-CN" altLang="en-US" sz="2400" dirty="0">
              <a:latin typeface="微软雅黑" panose="020B0703020204020201" pitchFamily="34" charset="-122"/>
              <a:ea typeface="微软雅黑" panose="020B0703020204020201" pitchFamily="34" charset="-122"/>
              <a:cs typeface="微软雅黑" panose="020B0703020204020201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63969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二、测试验证</a:t>
            </a:r>
            <a:br>
              <a:rPr lang="zh-CN" altLang="en-US" sz="1200" b="1"/>
            </a:b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" y="3039110"/>
          <a:ext cx="7438390" cy="294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60730"/>
                <a:gridCol w="965200"/>
                <a:gridCol w="2748915"/>
                <a:gridCol w="1500505"/>
              </a:tblGrid>
              <a:tr h="438785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测试项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设计目标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实际达成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验证数据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94932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边界检出率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≥97%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98%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采用边缘检测算法（Canny 算子），统计条码边界检出数量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400 组样本中 392 组边界检出完整，检出率 98%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77724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黑块灰度值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≤100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98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 100 组不同光强下的条码黑块像素，统计平均灰度值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100 组样本黑块平均灰度值 98，无超过 100 的样本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77724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白块灰度值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≥150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155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统计 100 组条码白块像素，计算平均灰度值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100 组样本白块平均灰度值 155，均≥150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0" y="1403985"/>
            <a:ext cx="152654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一、核心</a:t>
            </a:r>
            <a:r>
              <a:rPr lang="zh-CN" altLang="en-US" sz="1200" b="1"/>
              <a:t>目标</a:t>
            </a:r>
            <a:endParaRPr lang="zh-CN" altLang="en-US" sz="1200" b="1"/>
          </a:p>
        </p:txBody>
      </p:sp>
      <p:sp>
        <p:nvSpPr>
          <p:cNvPr id="30" name="文本框 29"/>
          <p:cNvSpPr txBox="1"/>
          <p:nvPr/>
        </p:nvSpPr>
        <p:spPr>
          <a:xfrm>
            <a:off x="98425" y="1873885"/>
            <a:ext cx="6550025" cy="55308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 algn="l"/>
            <a:r>
              <a:rPr sz="1000"/>
              <a:t>1.边界检出率≥97%</a:t>
            </a:r>
            <a:endParaRPr sz="1000"/>
          </a:p>
          <a:p>
            <a:pPr algn="l"/>
            <a:r>
              <a:rPr sz="1000"/>
              <a:t>2.黑块灰度值≤100</a:t>
            </a:r>
            <a:endParaRPr sz="1000"/>
          </a:p>
          <a:p>
            <a:pPr algn="l"/>
            <a:r>
              <a:rPr sz="1000"/>
              <a:t>3.白块灰度值≥150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4964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）灰度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化</a:t>
            </a:r>
            <a:endParaRPr lang="zh-CN" altLang="en-US" sz="24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63969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二、测试验证</a:t>
            </a:r>
            <a:br>
              <a:rPr lang="zh-CN" altLang="en-US" sz="1200" b="1"/>
            </a:b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" y="3039110"/>
          <a:ext cx="7438390" cy="2942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60730"/>
                <a:gridCol w="965200"/>
                <a:gridCol w="2748915"/>
                <a:gridCol w="1500505"/>
              </a:tblGrid>
              <a:tr h="438785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测试项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设计目标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实际达成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验证数据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94932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色彩偏差场景失败率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≤5%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4%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 250 组色彩偏差样本（偏红 / 偏蓝 / 偏黄），测试识别结果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250 组样本中 10 组识别失败，失败率 4%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77724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黑块灰度值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≤40ms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35ms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统计 500 组不同分辨率样本的处理耗时，覆盖 iOS 13-17 系统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500 组样本平均处理耗时 35ms，均≤40ms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0" y="1403985"/>
            <a:ext cx="152654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一、核心</a:t>
            </a:r>
            <a:r>
              <a:rPr lang="zh-CN" altLang="en-US" sz="1200" b="1"/>
              <a:t>目标</a:t>
            </a:r>
            <a:endParaRPr lang="zh-CN" altLang="en-US" sz="1200" b="1"/>
          </a:p>
        </p:txBody>
      </p:sp>
      <p:sp>
        <p:nvSpPr>
          <p:cNvPr id="30" name="文本框 29"/>
          <p:cNvSpPr txBox="1"/>
          <p:nvPr/>
        </p:nvSpPr>
        <p:spPr>
          <a:xfrm>
            <a:off x="98425" y="1873885"/>
            <a:ext cx="6550025" cy="3987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 algn="l"/>
            <a:r>
              <a:rPr lang="en-US" sz="1000"/>
              <a:t>1.</a:t>
            </a:r>
            <a:r>
              <a:rPr sz="1000"/>
              <a:t>色彩偏差场景识别失败率≤5%</a:t>
            </a:r>
            <a:endParaRPr sz="1000"/>
          </a:p>
          <a:p>
            <a:pPr algn="l"/>
            <a:r>
              <a:rPr lang="en-US" sz="1000"/>
              <a:t>2.</a:t>
            </a:r>
            <a:r>
              <a:rPr sz="1000"/>
              <a:t>单帧处理耗时≤40ms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5962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）模块化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与兼容</a:t>
            </a:r>
            <a:endParaRPr lang="zh-CN" altLang="en-US" sz="24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195" y="259651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二、测试验证</a:t>
            </a:r>
            <a:br>
              <a:rPr lang="zh-CN" altLang="en-US" sz="1200" b="1"/>
            </a:b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7320" y="3003550"/>
          <a:ext cx="8111490" cy="367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630"/>
                <a:gridCol w="1036320"/>
                <a:gridCol w="919480"/>
                <a:gridCol w="3162300"/>
                <a:gridCol w="1635760"/>
              </a:tblGrid>
              <a:tr h="430530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测试项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设计目标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实际达成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验证数据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60261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包体积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&lt;1M</a:t>
                      </a:r>
                      <a:endParaRPr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0.5M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用 Xcode 编译后查看产品包大小，对比 App Store 提交标准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编译后包体积 0.5M，远低于 1M 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46228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APP 集成成本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≤1 人 / 天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0.5 人 / 天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安排 3 名开发新手，分别集成至 3 个不同 APP，统计耗时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 人平均集成耗时 4 小时，即 0.5 人 / 天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311785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新手集成耗时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≤2 小时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 小时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选取 </a:t>
                      </a:r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 名无相关经验开发，按文档集成，统计耗时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3</a:t>
                      </a: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 人平均集成耗时 1 小时，均≤2 小时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0" y="1301750"/>
            <a:ext cx="152654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一、核心</a:t>
            </a:r>
            <a:r>
              <a:rPr lang="zh-CN" altLang="en-US" sz="1200" b="1"/>
              <a:t>目标</a:t>
            </a:r>
            <a:endParaRPr lang="zh-CN" altLang="en-US" sz="1200" b="1"/>
          </a:p>
        </p:txBody>
      </p:sp>
      <p:sp>
        <p:nvSpPr>
          <p:cNvPr id="30" name="文本框 29"/>
          <p:cNvSpPr txBox="1"/>
          <p:nvPr/>
        </p:nvSpPr>
        <p:spPr>
          <a:xfrm>
            <a:off x="98425" y="1628775"/>
            <a:ext cx="6550025" cy="55308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pPr algn="l"/>
            <a:r>
              <a:rPr lang="en-US" sz="1000"/>
              <a:t>1.</a:t>
            </a:r>
            <a:r>
              <a:rPr sz="1000"/>
              <a:t>包体积 &lt; 1M，调用成本 = 0 元</a:t>
            </a:r>
            <a:endParaRPr sz="1000"/>
          </a:p>
          <a:p>
            <a:pPr algn="l"/>
            <a:r>
              <a:rPr lang="en-US" sz="1000"/>
              <a:t>2.</a:t>
            </a:r>
            <a:r>
              <a:rPr sz="1000"/>
              <a:t>集成成本≤1 人 / 天</a:t>
            </a:r>
            <a:endParaRPr sz="1000"/>
          </a:p>
          <a:p>
            <a:pPr algn="l"/>
            <a:r>
              <a:rPr lang="en-US" sz="1000"/>
              <a:t>3.新手集成耗时≤2 小时</a:t>
            </a:r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5606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）数据监控</a:t>
            </a:r>
            <a:endParaRPr lang="zh-CN" altLang="en-US" sz="24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44792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二、测试验证</a:t>
            </a:r>
            <a:br>
              <a:rPr lang="zh-CN" altLang="en-US" sz="1200" b="1"/>
            </a:b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" y="2815590"/>
          <a:ext cx="7969885" cy="175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180"/>
                <a:gridCol w="815340"/>
                <a:gridCol w="1034415"/>
                <a:gridCol w="2945130"/>
                <a:gridCol w="1607820"/>
              </a:tblGrid>
              <a:tr h="354965"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测试项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设计目标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实际达成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验证方法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验证数据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76835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核心指标采集完整性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130" dirty="0">
                          <a:ea typeface="微软雅黑" panose="020B0703020204020201" pitchFamily="34" charset="-122"/>
                          <a:cs typeface="Arial" panose="020B0604020202090204" pitchFamily="34" charset="0"/>
                          <a:sym typeface="+mn-ea"/>
                        </a:rPr>
                        <a:t>&gt;=99%</a:t>
                      </a:r>
                      <a:endParaRPr lang="en-US" sz="1130" dirty="0">
                        <a:ea typeface="微软雅黑" panose="020B0703020204020201" pitchFamily="3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100%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1000 次扫码，检查 核心指标是否完整上报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1000 次扫码均完整采集所有指标，无缺失字段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  <a:tr h="628650">
                <a:tc>
                  <a:txBody>
                    <a:bodyPr/>
                    <a:p>
                      <a:pPr marL="0" marR="0" lvl="0" indent="0" algn="ctr" defTabSz="6851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  <a:sym typeface="+mn-ea"/>
                        </a:rPr>
                        <a:t>实时上报成功率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  <a:sym typeface="+mn-ea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≥9</a:t>
                      </a:r>
                      <a:r>
                        <a:rPr 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8</a:t>
                      </a: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/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99.8%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1000 次扫码，含 20% 弱网 / 断网场景</a:t>
                      </a:r>
                      <a:endParaRPr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30" dirty="0">
                          <a:latin typeface="微软雅黑" panose="020B0703020204020201" pitchFamily="34" charset="-122"/>
                          <a:ea typeface="微软雅黑" panose="020B0703020204020201" pitchFamily="34" charset="-122"/>
                        </a:rPr>
                        <a:t>1000 次数据中 998 次成功上报，2 次失败后缓存补报成功</a:t>
                      </a:r>
                      <a:endParaRPr lang="zh-CN" altLang="en-US" sz="1130" dirty="0">
                        <a:latin typeface="微软雅黑" panose="020B0703020204020201" pitchFamily="34" charset="-122"/>
                        <a:ea typeface="微软雅黑" panose="020B0703020204020201" pitchFamily="34" charset="-122"/>
                      </a:endParaRPr>
                    </a:p>
                  </a:txBody>
                  <a:tcPr marL="86182" marR="86182" marT="43091" marB="43091" anchor="ctr" anchorCtr="0"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0" y="1285875"/>
            <a:ext cx="1526540" cy="29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一、核心</a:t>
            </a:r>
            <a:r>
              <a:rPr lang="zh-CN" altLang="en-US" sz="1200" b="1"/>
              <a:t>目标</a:t>
            </a:r>
            <a:endParaRPr lang="zh-CN" altLang="en-US" sz="1200" b="1"/>
          </a:p>
        </p:txBody>
      </p:sp>
      <p:sp>
        <p:nvSpPr>
          <p:cNvPr id="30" name="文本框 29"/>
          <p:cNvSpPr txBox="1"/>
          <p:nvPr/>
        </p:nvSpPr>
        <p:spPr>
          <a:xfrm>
            <a:off x="98425" y="1619885"/>
            <a:ext cx="6550025" cy="60388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p>
            <a:pPr algn="l"/>
            <a:r>
              <a:rPr lang="en-US" sz="1000"/>
              <a:t>1.</a:t>
            </a:r>
            <a:r>
              <a:rPr sz="1000"/>
              <a:t>全覆盖统计前序模块关键优化指标，含单帧处理耗时、CPU 负载峰值、强光下过饱和干扰占比、弱光下色彩噪点干扰占比等 12 项核心数据</a:t>
            </a:r>
            <a:r>
              <a:rPr lang="en-US" sz="1000"/>
              <a:t>2.</a:t>
            </a:r>
            <a:r>
              <a:rPr sz="1000"/>
              <a:t>代码侵入量≤30 行</a:t>
            </a:r>
            <a:r>
              <a:rPr lang="zh-CN" sz="1000"/>
              <a:t>。</a:t>
            </a:r>
            <a:endParaRPr lang="zh-CN" sz="1000"/>
          </a:p>
          <a:p>
            <a:pPr algn="l"/>
            <a:r>
              <a:rPr lang="en-US" altLang="zh-CN" sz="1000"/>
              <a:t>2.数据实时上报成功率≥99.5%，支持离线缓存（最大 100 条），无数据丢失</a:t>
            </a:r>
            <a:endParaRPr lang="en-US" altLang="zh-CN" sz="1000"/>
          </a:p>
        </p:txBody>
      </p:sp>
      <p:sp>
        <p:nvSpPr>
          <p:cNvPr id="4" name="文本框 3"/>
          <p:cNvSpPr txBox="1"/>
          <p:nvPr/>
        </p:nvSpPr>
        <p:spPr>
          <a:xfrm>
            <a:off x="0" y="4766945"/>
            <a:ext cx="825881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三、统计数据</a:t>
            </a:r>
            <a:endParaRPr lang="zh-CN" altLang="en-US" sz="1200"/>
          </a:p>
          <a:p>
            <a:endParaRPr lang="zh-CN" altLang="en-US" sz="1200"/>
          </a:p>
          <a:p>
            <a:br>
              <a:rPr lang="zh-CN" altLang="en-US" sz="1200" b="1"/>
            </a:br>
            <a:endParaRPr lang="zh-CN" altLang="en-US" sz="120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9920" y="5066030"/>
          <a:ext cx="1005840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2" imgW="1524000" imgH="1524000" progId="Excel.Sheet.12">
                  <p:embed/>
                </p:oleObj>
              </mc:Choice>
              <mc:Fallback>
                <p:oleObj name="" showAsIcon="1" r:id="rId2" imgW="1524000" imgH="1524000" progId="Excel.Shee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9920" y="5066030"/>
                        <a:ext cx="1005840" cy="1005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4" y="695574"/>
            <a:ext cx="685733" cy="4952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0280"/>
            <a:r>
              <a:rPr lang="zh-CN" altLang="en-US" dirty="0">
                <a:solidFill>
                  <a:prstClr val="white"/>
                </a:solidFill>
                <a:latin typeface="微软雅黑"/>
                <a:ea typeface="微软雅黑"/>
              </a:rPr>
              <a:t>四</a:t>
            </a:r>
            <a:endParaRPr lang="zh-CN" altLang="en-US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704850"/>
            <a:ext cx="4056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验证（</a:t>
            </a:r>
            <a:r>
              <a:rPr lang="en-US" altLang="zh-CN" sz="2400" b="1" dirty="0">
                <a:solidFill>
                  <a:srgbClr val="FF0000"/>
                </a:solidFill>
                <a:latin typeface="微软雅黑"/>
                <a:ea typeface="微软雅黑"/>
              </a:rPr>
              <a:t>V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erify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）效果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演示</a:t>
            </a:r>
            <a:endParaRPr lang="zh-CN" altLang="en-US" sz="24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282" y="1279896"/>
            <a:ext cx="6081796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0280"/>
            <a:r>
              <a:rPr lang="zh-CN" altLang="en-US" sz="1695" dirty="0">
                <a:solidFill>
                  <a:prstClr val="black"/>
                </a:solidFill>
                <a:latin typeface="微软雅黑"/>
                <a:ea typeface="微软雅黑"/>
              </a:rPr>
              <a:t>强光下扫码优化</a:t>
            </a:r>
            <a:r>
              <a:rPr lang="zh-CN" altLang="en-US" sz="1695" dirty="0">
                <a:solidFill>
                  <a:prstClr val="black"/>
                </a:solidFill>
                <a:latin typeface="微软雅黑"/>
                <a:ea typeface="微软雅黑"/>
              </a:rPr>
              <a:t>效果</a:t>
            </a:r>
            <a:endParaRPr lang="zh-CN" altLang="en-US" sz="1695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6" name="图片 5" descr="20250724_155404_578_pre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1339850" y="1674495"/>
            <a:ext cx="1577340" cy="1922145"/>
          </a:xfrm>
          <a:prstGeom prst="rect">
            <a:avLst/>
          </a:prstGeom>
        </p:spPr>
      </p:pic>
      <p:pic>
        <p:nvPicPr>
          <p:cNvPr id="9" name="图片 8" descr="20250724_155404_578_enhanc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535" y="1847215"/>
            <a:ext cx="1921510" cy="15773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1282" y="3800211"/>
            <a:ext cx="6081796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970280"/>
            <a:r>
              <a:rPr lang="zh-CN" altLang="en-US" sz="1695" dirty="0">
                <a:solidFill>
                  <a:prstClr val="black"/>
                </a:solidFill>
                <a:latin typeface="微软雅黑"/>
                <a:ea typeface="微软雅黑"/>
              </a:rPr>
              <a:t>弱光下扫码优化</a:t>
            </a:r>
            <a:r>
              <a:rPr lang="zh-CN" altLang="en-US" sz="1695" dirty="0">
                <a:solidFill>
                  <a:prstClr val="black"/>
                </a:solidFill>
                <a:latin typeface="微软雅黑"/>
                <a:ea typeface="微软雅黑"/>
              </a:rPr>
              <a:t>效果</a:t>
            </a:r>
            <a:endParaRPr lang="zh-CN" altLang="en-US" sz="1695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11" name="图片 10" descr="20250724_144714_892_pre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257675"/>
            <a:ext cx="1901190" cy="1891665"/>
          </a:xfrm>
          <a:prstGeom prst="rect">
            <a:avLst/>
          </a:prstGeom>
        </p:spPr>
      </p:pic>
      <p:pic>
        <p:nvPicPr>
          <p:cNvPr id="12" name="图片 11" descr="20250724_144714_892_enhance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535" y="4257675"/>
            <a:ext cx="1921510" cy="19119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23545" y="2204085"/>
            <a:ext cx="350520" cy="8636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>
                <a:solidFill>
                  <a:srgbClr val="C00000"/>
                </a:solidFill>
              </a:rPr>
              <a:t>优化前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97020" y="2294255"/>
            <a:ext cx="350520" cy="8636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>
                <a:solidFill>
                  <a:srgbClr val="00B050"/>
                </a:solidFill>
              </a:rPr>
              <a:t>优化后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4015" y="4772660"/>
            <a:ext cx="350520" cy="8636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>
                <a:solidFill>
                  <a:srgbClr val="C00000"/>
                </a:solidFill>
              </a:rPr>
              <a:t>优化前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97020" y="4716145"/>
            <a:ext cx="350520" cy="8636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>
                <a:solidFill>
                  <a:srgbClr val="00B050"/>
                </a:solidFill>
              </a:rPr>
              <a:t>优化后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8" descr="CASH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607546" y="4668573"/>
            <a:ext cx="1580065" cy="1292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718212" y="1149337"/>
            <a:ext cx="6966651" cy="166052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减少投入成本：为了解决强弱光下扫码识别率问题，将国内</a:t>
            </a:r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App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扫码腾讯付费扫码组件替换成自研智能扫码组件，变更后将扫码从</a:t>
            </a:r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0.045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元变为使用自研智能扫码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方案。</a:t>
            </a:r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2025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年上半年调用次数为749,967 次。则预期项目收益</a:t>
            </a:r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=0.045×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749,967</a:t>
            </a:r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  <a:sym typeface="+mn-ea"/>
              </a:rPr>
              <a:t>x2</a:t>
            </a:r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=</a:t>
            </a:r>
            <a:r>
              <a:rPr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67497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元</a:t>
            </a:r>
            <a:r>
              <a:rPr lang="en-US" altLang="zh-CN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/</a:t>
            </a:r>
            <a:r>
              <a:rPr lang="zh-CN" altLang="en-US" sz="1695" dirty="0">
                <a:latin typeface="微软雅黑" panose="020B0703020204020201" pitchFamily="34" charset="-122"/>
                <a:ea typeface="微软雅黑" panose="020B0703020204020201" pitchFamily="34" charset="-122"/>
              </a:rPr>
              <a:t>年</a:t>
            </a:r>
            <a:endParaRPr lang="zh-CN" altLang="en-US" sz="1695" dirty="0">
              <a:latin typeface="微软雅黑" panose="020B0703020204020201" pitchFamily="34" charset="-122"/>
              <a:ea typeface="微软雅黑" panose="020B0703020204020201" pitchFamily="34" charset="-122"/>
            </a:endParaRPr>
          </a:p>
        </p:txBody>
      </p:sp>
      <p:grpSp>
        <p:nvGrpSpPr>
          <p:cNvPr id="7" name="组合 16"/>
          <p:cNvGrpSpPr/>
          <p:nvPr/>
        </p:nvGrpSpPr>
        <p:grpSpPr bwMode="auto">
          <a:xfrm>
            <a:off x="-5985" y="643597"/>
            <a:ext cx="5620005" cy="471327"/>
            <a:chOff x="-6350" y="683101"/>
            <a:chExt cx="5962769" cy="500063"/>
          </a:xfrm>
        </p:grpSpPr>
        <p:sp>
          <p:nvSpPr>
            <p:cNvPr id="8" name="矩形 7"/>
            <p:cNvSpPr/>
            <p:nvPr/>
          </p:nvSpPr>
          <p:spPr bwMode="auto">
            <a:xfrm rot="10800000" flipV="1">
              <a:off x="-6350" y="683101"/>
              <a:ext cx="730265" cy="500063"/>
            </a:xfrm>
            <a:prstGeom prst="rect">
              <a:avLst/>
            </a:prstGeom>
            <a:solidFill>
              <a:srgbClr val="1A41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260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X</a:t>
              </a:r>
              <a:endParaRPr lang="zh-CN" altLang="en-US" sz="2260" dirty="0"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</p:txBody>
        </p:sp>
        <p:sp>
          <p:nvSpPr>
            <p:cNvPr id="9" name="矩形 8"/>
            <p:cNvSpPr>
              <a:spLocks noChangeArrowheads="1"/>
            </p:cNvSpPr>
            <p:nvPr/>
          </p:nvSpPr>
          <p:spPr bwMode="auto">
            <a:xfrm>
              <a:off x="784241" y="710089"/>
              <a:ext cx="5172178" cy="46729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eaLnBrk="0" hangingPunct="0"/>
              <a:r>
                <a:rPr lang="zh-CN" altLang="en-US" sz="2260" b="1" dirty="0">
                  <a:latin typeface="微软雅黑" panose="020B0703020204020201" pitchFamily="34" charset="-122"/>
                  <a:ea typeface="微软雅黑" panose="020B0703020204020201" pitchFamily="34" charset="-122"/>
                </a:rPr>
                <a:t>项目收益和效果的确认</a:t>
              </a:r>
              <a:endParaRPr lang="zh-CN" altLang="en-US" sz="2260" b="1" dirty="0">
                <a:latin typeface="微软雅黑" panose="020B0703020204020201" pitchFamily="34" charset="-122"/>
                <a:ea typeface="微软雅黑" panose="020B0703020204020201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22*243"/>
  <p:tag name="TABLE_ENDDRAG_RECT" val="18*168*622*243"/>
</p:tagLst>
</file>

<file path=ppt/tags/tag2.xml><?xml version="1.0" encoding="utf-8"?>
<p:tagLst xmlns:p="http://schemas.openxmlformats.org/presentationml/2006/main">
  <p:tag name="TABLE_ENDDRAG_ORIGIN_RECT" val="622*243"/>
  <p:tag name="TABLE_ENDDRAG_RECT" val="18*168*622*243"/>
</p:tagLst>
</file>

<file path=ppt/tags/tag3.xml><?xml version="1.0" encoding="utf-8"?>
<p:tagLst xmlns:p="http://schemas.openxmlformats.org/presentationml/2006/main">
  <p:tag name="TABLE_ENDDRAG_ORIGIN_RECT" val="661*381"/>
  <p:tag name="TABLE_ENDDRAG_RECT" val="8*156*662*381"/>
</p:tagLst>
</file>

<file path=ppt/tags/tag4.xml><?xml version="1.0" encoding="utf-8"?>
<p:tagLst xmlns:p="http://schemas.openxmlformats.org/presentationml/2006/main">
  <p:tag name="TABLE_ENDDRAG_ORIGIN_RECT" val="612*91"/>
  <p:tag name="TABLE_ENDDRAG_RECT" val="6*175*612*91"/>
</p:tagLst>
</file>

<file path=ppt/tags/tag5.xml><?xml version="1.0" encoding="utf-8"?>
<p:tagLst xmlns:p="http://schemas.openxmlformats.org/presentationml/2006/main">
  <p:tag name="TABLE_ENDDRAG_ORIGIN_RECT" val="581*112"/>
  <p:tag name="TABLE_ENDDRAG_RECT" val="21*303*581*112"/>
</p:tagLst>
</file>

<file path=ppt/tags/tag6.xml><?xml version="1.0" encoding="utf-8"?>
<p:tagLst xmlns:p="http://schemas.openxmlformats.org/presentationml/2006/main">
  <p:tag name="TABLE_ENDDRAG_ORIGIN_RECT" val="585*170"/>
  <p:tag name="TABLE_ENDDRAG_RECT" val="13*257*585*170"/>
</p:tagLst>
</file>

<file path=ppt/tags/tag7.xml><?xml version="1.0" encoding="utf-8"?>
<p:tagLst xmlns:p="http://schemas.openxmlformats.org/presentationml/2006/main">
  <p:tag name="TABLE_ENDDRAG_ORIGIN_RECT" val="585*170"/>
  <p:tag name="TABLE_ENDDRAG_RECT" val="13*257*585*170"/>
</p:tagLst>
</file>

<file path=ppt/tags/tag8.xml><?xml version="1.0" encoding="utf-8"?>
<p:tagLst xmlns:p="http://schemas.openxmlformats.org/presentationml/2006/main">
  <p:tag name="TABLE_ENDDRAG_ORIGIN_RECT" val="585*170"/>
  <p:tag name="TABLE_ENDDRAG_RECT" val="13*257*585*170"/>
</p:tagLst>
</file>

<file path=ppt/tags/tag9.xml><?xml version="1.0" encoding="utf-8"?>
<p:tagLst xmlns:p="http://schemas.openxmlformats.org/presentationml/2006/main">
  <p:tag name="TABLE_ENDDRAG_ORIGIN_RECT" val="585*170"/>
  <p:tag name="TABLE_ENDDRAG_RECT" val="13*257*585*170"/>
</p:tagLst>
</file>

<file path=ppt/tags/tag10.xml><?xml version="1.0" encoding="utf-8"?>
<p:tagLst xmlns:p="http://schemas.openxmlformats.org/presentationml/2006/main">
  <p:tag name="TABLE_ENDDRAG_ORIGIN_RECT" val="585*170"/>
  <p:tag name="TABLE_ENDDRAG_RECT" val="13*257*585*170"/>
</p:tagLst>
</file>

<file path=ppt/tags/tag11.xml><?xml version="1.0" encoding="utf-8"?>
<p:tagLst xmlns:p="http://schemas.openxmlformats.org/presentationml/2006/main">
  <p:tag name="TABLE_ENDDRAG_ORIGIN_RECT" val="638*300"/>
  <p:tag name="TABLE_ENDDRAG_RECT" val="11*203*638*300"/>
</p:tagLst>
</file>

<file path=ppt/tags/tag12.xml><?xml version="1.0" encoding="utf-8"?>
<p:tagLst xmlns:p="http://schemas.openxmlformats.org/presentationml/2006/main">
  <p:tag name="TABLE_ENDDRAG_ORIGIN_RECT" val="590*138"/>
  <p:tag name="TABLE_ENDDRAG_RECT" val="7*221*590*138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14540</Words>
  <Application>WPS 演示</Application>
  <PresentationFormat>自定义</PresentationFormat>
  <Paragraphs>1841</Paragraphs>
  <Slides>41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3" baseType="lpstr">
      <vt:lpstr>Arial</vt:lpstr>
      <vt:lpstr>宋体</vt:lpstr>
      <vt:lpstr>Wingdings</vt:lpstr>
      <vt:lpstr>微软雅黑</vt:lpstr>
      <vt:lpstr>汉仪旗黑</vt:lpstr>
      <vt:lpstr>汉仪书宋二KW</vt:lpstr>
      <vt:lpstr>黑体</vt:lpstr>
      <vt:lpstr>等线</vt:lpstr>
      <vt:lpstr>Times New Roman</vt:lpstr>
      <vt:lpstr>微软雅黑</vt:lpstr>
      <vt:lpstr>Calibri</vt:lpstr>
      <vt:lpstr>宋体</vt:lpstr>
      <vt:lpstr>Arial Unicode MS</vt:lpstr>
      <vt:lpstr>汉仪中黑KW</vt:lpstr>
      <vt:lpstr>汉仪中等线KW</vt:lpstr>
      <vt:lpstr>Helvetica Neue</vt:lpstr>
      <vt:lpstr>Wingdings</vt:lpstr>
      <vt:lpstr>Calibri</vt:lpstr>
      <vt:lpstr>自定义设计方案</vt:lpstr>
      <vt:lpstr>1_自定义设计方案</vt:lpstr>
      <vt:lpstr>2_自定义设计方案</vt:lpstr>
      <vt:lpstr>Excel.Sheet.12</vt:lpstr>
      <vt:lpstr>PowerPoint 演示文稿</vt:lpstr>
      <vt:lpstr>PowerPoint 演示文稿</vt:lpstr>
      <vt:lpstr>DFSS项目注册表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Mickey Jiang</dc:creator>
  <cp:lastModifiedBy>MTC</cp:lastModifiedBy>
  <cp:revision>1194</cp:revision>
  <dcterms:created xsi:type="dcterms:W3CDTF">2025-11-28T07:38:17Z</dcterms:created>
  <dcterms:modified xsi:type="dcterms:W3CDTF">2025-11-28T07:38:17Z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2052-6.2.2.8394</vt:lpwstr>
  </property>
  <property fmtid="{D5CDD505-2E9C-101B-9397-08002B2CF9AE}" pid="3" name="KSORubyTemplateID">
    <vt:lpwstr>2</vt:lpwstr>
  </property>
  <property fmtid="{D5CDD505-2E9C-101B-9397-08002B2CF9AE}" pid="4" name="ICV">
    <vt:lpwstr>CEC000B26AE4181D5F96C6676D4D3211_42</vt:lpwstr>
  </property>
</Properties>
</file>